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is the first class of an 8-module program that will take you from zero to building your own ML projects. Today we cover a lot of ground — the big picture of AI, how ML fits in, and the three fundamental ways machines learn. But first, let's see ML in action before we define a single term.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explain what machine learning is, I want you to see it. I'm going to open Colab, paste five lines, and run a working model. Watch what happens. It loads data, finds patterns, and predicts outcomes for new examples — no rules written by hand. You don't need to understand the code yet. Just watch it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happened. Data went in, the model learned patterns, and it made predictions. That's it. That's the entire loop of machine learning. Everything we cover today and for the next four modules is explaining why that worked and how to do it well. Hold onto this — it's your anchor for all the theory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define anything, let's see what you already know. I want hands up or shout-outs — what comes to mind when you hear AI? Most people think Terminator or Iron Man. The reality is more boring but honestly more impressive.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working definition we'll use. AI is any system that can do something that would normally need a human brain. That includes seeing, hearing, reading, deciding, and learning. Almost all AI today is narrow — it does one thing well. General AI that thinks like a human? Still science fiction.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didn't start with ChatGPT. It started in the 1950s when Alan Turing asked a simple question — can machines think? The Dartmouth Conference in 1956 is where the term "Artificial Intelligence" was literally invented. Early AI was all rules — if this, then that. People got very excited, governments poured money in, and then it didn't deliver. Twice. These crashes are called AI winters.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comeback started in the late 90s with better hardware and more data. Deep Blue beating Kasparov was a wake-up call. But the real turning point was 2012 — a neural network called AlexNet crushed the ImageNet competition and suddenly deep learning was the hottest thing in tech. Fast forward to today and you have ChatGPT, which most of you have probably 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just a Silicon Valley thing. Uzbekistan has a national AI strategy. Telecom companies are using chatbots right now — I work on one of these systems at Uztelecom. Banks are catching fraud with ML models. And farmers are starting to use satellite data to predict crop yields. You're entering this field at the right time for Uzbekistan.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probably the most important diagram in the entire module. Think of it as Russian dolls. AI is the biggest doll — it includes everything. Inside that is ML, which is a specific approach where the system learns patterns from data instead of being manually programmed. Inside ML is deep learning, which uses brain-inspired neural networks. We'll spend most of this course in the ML circle.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clearest way to see it. Traditional AI means a programmer sits down and writes every rule. That works for simple stuff but breaks when things get messy. ML flips it — you give the system examples and it figures out the rules. Imagine writing rules for every possible spam email vs just showing it thousands of examples. Which sounds more practical?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do you use plain ML vs deep learning? If your data fits in a spreadsheet — customer age, purchase amount, subscription type — classic ML works great and is simpler. But if your data is images, audio recordings, or raw text, deep learning can learn directly from that without you extracting features manually. The catch: deep learning is hungry — it needs a lot of data and serious computing power.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hear "data science" thrown around a lot, sometimes interchangeably with ML. They're related but not the same. Data science is broader — it's the intersection of math, coding, and knowing your business domain. ML is one of the tools a data scientist uses. Think of a carpenter — ML is like a power drill. Important, but not the only tool in the box.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wrap up, let's clear up some myths. AI isn't coming for all jobs — it's coming for specific tasks within jobs. AI doesn't actually understand anything — it's very sophisticated pattern matching. And AI isn't neutral or objective. If you train it on biased data, you get biased results. We'll dig deep into this in Class 4 when we talk ethics.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reference slide. These five terms should be in your vocabulary by the time you walk out today. Don't worry about memorizing definitions — focus on understanding the relationships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this real. Take one minute and think about your own life — what apps or services are using AI? Then turn to the person next to you and compare. We'll hear from a few pairs after. I bet we'll find AI in places you didn't expect.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covered the big picture — what AI is, where it came from, and how ML fits in. Now let's go one level deeper. There are three fundamentally different ways a machine can learn. By the end of this class, you should be able to look at a problem and say "that's supervised learning" or "that's unsupervised." That skill is worth more than you think.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big picture. Supervised learning is like studying with an answer key — the data comes with correct answers and the model learns to predict them. Unsupervised is like being dropped in a foreign city with no map — you start finding patterns and grouping things on your own. Reinforcement learning is like training a dog — good behavior gets a treat, bad behavior gets nothing.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Supervised learning is the workhorse of ML. You give it examples where you already know the answer, and it learns the pattern. Like showing a child hundreds of photos of cats and dogs with labels. After enough examples, the child can identify new animals they've never seen. There are two flavors — classification when you're predicting a category, regression when you're predicting a number.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means you're sorting things into buckets — spam vs not spam, fraud vs legitimate, will churn vs won't churn. Regression means you're predicting a number on a continuous scale — price, temperature, revenue. At Uztelecom, we use classification to sort customer messages into categories so agents know how to respond faster.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Unsupervised learning is trickier. You hand the model a pile of data with no labels and say "find me something interesting." The most common task is clustering — grouping similar things together. Imagine you dump all Uztelecom customers' usage data into a model with no labels. It might discover natural groups — heavy data users, voice-only users, international callers. You didn't tell it those groups exist. It found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segmentation is the classic use case. You don't decide the segments in advance — the algorithm finds them. Anomaly detection is another big one — a bank doesn't label every transaction as fraud or not. Instead, the model learns what "normal" looks like and flags anything weird. In Uzbekistan, online marketplaces like Uzum could use this to understand their customer base without manually categorizing everyone.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Reinforcement learning is the most different from the other two. There's an agent — think of it as a player in a game. It takes actions, and the environment gives it a reward or a penalty. Over thousands of tries, it figures out the best strategy. This is how AlphaGo learned to beat the world champion — by playing millions of games against itself.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 is behind some of the most impressive AI demos — game-playing agents, robots learning to walk. But it's also in everyday apps. YouTube's recommendation system uses RL to maximize your watch time. A practical Uzbekistan application: imagine RL optimizing traffic signals in Tashkent — the agent learns timing patterns that minimize congestion. That's a real problem worth solving.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cheat sheet. Keep this table in mind — it'll save you a lot of confusion. The key difference is the feedback loop. Supervised has explicit correct answers. Unsupervised has no feedback at all. Reinforcement has delayed feedback through rewards. Most of your work in this course will be supervised and unsupervised.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is your decision-making tool. When you face an ML problem, start here. First question: do I have labels? If yes, supervised. If no, are you looking for structure or making sequential decisions? This seems simple, but trust me — even experienced practitioners use this mental model.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test your understanding. I'm going to give you eight scenarios — some from Uzbekistan, some international. With your partner, classify each one. Don't overthink it — use the flowchart. We'll discuss the tricky ones together afterward.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through these. I'll ask a pair for each one. For the tricky ones — like recommendations or fraud — there are actually multiple valid approaches. Fraud can be supervised (if you have labeled fraud data) or unsupervised (anomaly detection). That's an important lesson: problem framing matters as much as the algorithm.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bonus before we close. The three types we covered are the classic categories, but there are hybrid approaches. Semi-supervised mixes labeled and unlabeled data — useful when labeling is expensive. Self-supervised is how GPT models work — the model predicts the next word, so the text itself becomes the label. You'll see more of this in later modules.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class today. We started by seeing ML in action, then covered the full landscape — what AI is, where it came from, how ML fits in, and the three ways machines learn. The skill you're building is learning to look at a problem and immediately know which bucket it falls into. Next time: the math intuition behind all of this, and the end-to-end ML workflow.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article I'll share. Then find three real examples of ML in Uzbekistan and classify each one using what we learned today. Could be banking, telecom, agriculture, government. Bonus points if you find one that could be approached from two different angles.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might sound scary — math. But I promise, no formulas on the board today. We're building intuition. You need to understand why probability and statistics matter for ML, and how an ML project actually flows from start to finish. By the end, you'll have a mental map of the entire ML process.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honest — you don't need a PhD in math to do ML. But you do need to understand what's happening under the hood at a basic level. Otherwise you're just pressing buttons and hoping for the best. Today is about building that intuition. We'll go deeper in Module 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simplest possible example. A coin flip. You know there's a 50% chance of heads. That's probability. ML models work the same way — they don't give you a hard yes or no. They give you a probability. "I'm 87% sure this is spam." Then you decide the threshold — maybe anything above 70% gets filtered. That threshold is your decision, not the model's.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die is a uniform distribution — every outcome is equally likely. But most real-world data isn't uniform. Think about how long customer calls last at a telecom company. Most calls are under 5 minutes, some are 10-15, and a few outliers go over an hour. That shape — tall on the left, trailing off to the right — is a distribution. Understanding the shape of your data is the first step to building good models.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tell you the average salary in a company is 15 million soʻm, that sounds decent. But what if the CEO makes 500 million and everyone else makes 5 million? The average is misleading. The median — the middle person's salary — tells the real story. Standard deviation tells you how spread out the values are. These three numbers are your first tools for understanding any dataset.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measures whether two things move together. Temperature and ice cream sales are correlated. But here's the trap that catches even professionals — correlation is not causation. Ice cream sales and drowning deaths are correlated. Does ice cream cause drowning? No. Summer causes both. In ML, you'll find lots of correlations in your data. Your job is to think critically about which ones are meaningful.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ML models actually learn. Imagine you're blindfolded on a mountain and you need to find the valley. What do you do? You feel which direction slopes downward and take a step. Then you check again and take another step. That's gradient descent. The "mountain" is the error landscape — the model is trying to minimize its mistakes. Every step is an adjustment to the model's parameters. It does this millions of times until it settles at a low 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picture of how an ML project works. It starts with defining the problem, then collecting and cleaning data, then building a model, evaluating it, and deploying it. The dirty secret of ML — you'll spend 80% of your time on data, not models. And it's not a straight line. You'll build a model, realize your data is bad, go back and fix it, retrain, evaluate, repeat. That's normal.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step is the one most people skip. Before you touch any data or code, you need to define the problem precisely. "We want to use AI" — I hear this constantly, and it means nothing. Compare that to "We want to predict which of our 500,000 subscribers will cancel in the next 30 days so we can offer them a retention deal." Now that's something you can build.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 know the problem, you need data. And real data is messy. Missing values, duplicate records, wrong formats, inconsistent naming. At Uztelecom, customer data might have phone numbers in three different formats across three different systems. You have to clean all of that before any model can learn from it. Module 3 is entirely about this.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fun part — building the model. But here's a pro tip: start with the simplest possible model. A basic logistic regression often outperforms a fancy neural network, especially with small data. Then evaluate — and here's the critical thing — you must test on data the model has NEVER seen during training. Otherwise you're just testing memory, not learning.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sitting in a Jupyter notebook is a science experiment. A model running in production, making real predictions, affecting real decisions — that's engineering. Deployment is where most projects die. And even after deployment, you're not done. The world changes. Customer behavior shifts. Your model gets stale. You need monitoring and retraining. This is the MLOps side — which is a growing field.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real example end to end. Uztelecom wants to reduce customer churn. Step by step — define the problem, gather the data from billing and CRM systems, clean it up, engineer useful features, train a model, test it against reality, and deploy it so the retention team gets a daily list of at-risk customers. That's the full workflow in action. You'll actually frame this problem yourself in the lab session.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exercise. Think of any business in Uzbekistan — a restaurant, a bank, a university, a delivery service. What's a problem ML could help with? Don't worry about the model — focus on the problem definition and where the data would come from. Talk to your neighbor for 3 minutes. Let's hear some creative ideas.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big things from today. First, the math behind ML isn't scary — it's probability, statistics, and optimization, and you can understand the intuition without memorizing formulas. Second, the ML workflow is your roadmap for any project. Memorize those six steps. Next class we'll look at real applications in the ITES sector — recommendation systems, fraud detection, chatbots, churn prediction.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Homework is light. Know the six workflow steps cold. Read the article I'll share on ML in telecom. And start thinking about churn prediction — what data would you need? What would you predict? We'll use this in the lab session at the end of the module.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case study day. We're looking at four major applications of ML in the ITES sector — information technology enabled services. These are the systems running behind the scenes at banks, telecom companies, e-commerce platforms, and call centers. For each one, we'll cover how it works, why it matters for business, and what challenges come with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time YouTube suggests a video or Uzum shows you "recommended for you" products, that's a recommendation system. There are two main approaches. Collaborative filtering says "people similar to you bought these things." Content-based says "this product is similar to things you already liked." Most real systems use both. It's one of the most commercially valuable applications of ML.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impact is massive. A third of Amazon's revenue comes from "you might also like." Netflix estimates their recommendation engine saves a billion dollars a year in customer retention. In Uzbekistan, Uzum marketplace and Korzinka Go delivery could use the same technology. But it's not perfect — new users have no history, and there's a risk of creating filter bubbles where people only see what they already agree with.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Banks process millions of transactions daily. Humans can't review each one. ML models learn what normal transactions look like for each customer — amount, location, time of day, merchant type. When something doesn't fit the pattern — like a large purchase in a foreign country at 3 AM — the system flags it. Some systems use supervised learning with labeled fraud/not-fraud data. Others use unsupervised anomaly detection. Often both.</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Uzbekistan moves toward digital payments — Payme, Click, Uzum Bank — fraud detection becomes critical. The biggest challenge is imbalance. Out of a million transactions, maybe a thousand are fraud. The model sees 99.9% normal data. It's like finding a needle in a haystack. And the needle keeps changing shape — fraudsters evolve their tactics. We'll learn about handling imbalanced data in Module 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Chatbots are the application I know best — we're building one at Uztelecom. A customer types "How do I check my balance?" and the bot needs to understand the intent — it's about balance checking, not billing or complaints. Simple bots use rules and keyword matching. Advanced bots use NLP and large language models to understand meaning even when the phrasing is unusual. The goal: handle routine questions automatically so human agents focus on complex issues.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chatbot handles the easy stuff — balance inquiries, plan details, service activation — so your human agents can focus on complaints and complex issues. At Uztelecom, the chatbot handles a significant portion of incoming queries. But Uzbek language presents unique challenges — people switch between Latin and Cyrillic, mix in Russian, use slang. And the bot needs to know its limits. Confidently giving a wrong answer is worse than saying "let me connect you to an agent."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Churn prediction is the case study we'll work with most in this module. It's supervised classification — you take historical data on customers who left and who stayed, and the model learns the patterns. Declining usage, increasing complaints, payment delays — these are signals. The output is a probability. "Customer X has an 82% chance of churning next month." The retention team then reaches out before it happens. Prevention is cheaper than acquisition.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Uzbekistan's telecom market, customers can switch carriers easily. Losing a customer means lost revenue and the cost of acquiring a replacement. The first challenge is surprisingly basic — defining what churn means. Does a customer who reduces their plan count? What about someone who hasn't called in 30 days but still pays? These definitions change the entire model. And prediction without action is pointless — you need a retention team ready to act on the model's output.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into four groups. Each group takes one of the four case studies we just covered. Spend 8 minutes discussing those four questions. Then each group presents for 3 minutes. I want to hear specific Uzbekistan companies and specific risks. "The model could be wrong" isn't enough — tell me what happens to the business when it's wrong.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across all four case studies, some themes keep coming up. Data quality is everything. Problem framing matters more than algorithm choice. Ethics can't be an afterthought. Humans need to stay in the loop. And domain expertise — actually understanding the business — is what separates a useful model from a toy. Keep these themes in mind for the rest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applications, four different problem types, four sets of challenges. The technical "how" is important, but the "what could go wrong" is what separates a responsible AI practitioner from a reckless one. Next class, we go deeper into the ethics side — bias in training data, fairness in predictions, and privacy concerns. Bring your thinking caps.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page, your own words. Pick whichever case study interests you most. And read the ethics article before next class — we'll jump straight into discussion. The question to think about: should AI systems make decisions that affect people's lives? If yes, under what conditions? If no, why not?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different. Less lecturing, more discussing. AI ethics isn't a box you check — it's a set of questions you need to ask every time you build or deploy a system. We'll look at real cases where AI went wrong, discuss what happened and why, and think about what we'd do differently. I want to hear your opinions.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build a spam filter that makes a mistake, an email goes to the wrong folder. Annoying, not life-changing. But when an AI system denies someone a loan, rejects their job application, or flags them as a criminal suspect — that's a different level of consequence. AI systems can scale discrimination at a speed and scope no human could match. That's why ethics isn't optional.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uncomfortable truth: AI bias comes from us. If your training data reflects a world where women were historically denied loans, the model learns that pattern and continues it. If your dataset only includes data from Tashkent, it won't work for Karakalpakstan. The model is a mirror — it reflects whatever you show it, including the ugly parts.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famous AI bias cases. Amazon trained a resume screener on a decade of their own hiring decisions. But those decisions were biased — they'd historically hired mostly men for technical roles. So the model learned that being female was a negative signal. It literally penalized resumes that mentioned women's organizations. They tried to fix it, couldn't guarantee fairness, and killed the project. The lesson: biased history creates biased AI.</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will make you think. COMPAS was used by judges to help decide bail and sentencing. ProPublica found it was twice as likely to falsely label Black defendants as high-risk. The company said the overall accuracy was the same across races. Both statements were technically true — but they were measuring different things. This reveals something deep: fairness has multiple definitions, and they can contradict each other. There's no purely mathematical solution to fairness.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hardest slide in the whole module. There are multiple mathematical definitions of fairness, and — this has been mathematically proven — you cannot satisfy all of them at the same time. So you have to choose. And that choice isn't technical, it's ethical. Do you want equal accuracy or equal error rates? The answer depends on context, stakes, and values. This is why AI ethics needs diverse teams, not just engineers.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ML model we discussed this week needs data, and that data often comes from people. Your face, your voice, your purchase history, your location. Most people don't realize how much data is being collected or how it's being used. In Uzbekistan, digital services are growing fast — Payme, Uzum, government e-services. What data are they collecting? How is it stored? Who has access? These are questions every AI practitioner needs to ask.</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Facial recognition is the poster child for bias. MIT researcher Joy Buolamwini tested three commercial systems and found massive accuracy gaps — nearly perfect for white men, wrong a third of the time for darker-skinned women. This has real consequences. In the US, multiple people have been wrongly arrested based on faulty facial recognition. Some cities banned it entirely. What about Uzbekistan? As smart city projects expand, this is a conversation we need to have.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scenarios, four groups. Each group takes one. No right answers — I want you to argue both sides. What are the benefits? What are the risks? What safeguards would you put in place? You have 12 minutes, then each group presents their position and the rest of the class challenges them. Be ready to defend your reasoning.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hear from each group. When a group presents, I want the rest of you thinking about these questions: Did they consider all stakeholders? What's the worst case scenario? And who is responsible if things go wrong — the developer, the company, the government, or the algorithm? Accountability is the question nobody wants to answer.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all that discussion, here's a framework. Five principles. They won't solve every problem, but they give you a starting point. Whenever you build an ML system, run it through these five checks. Is it transparent? Is someone accountable? Have we tested for bias? Are we protecting privacy? Is there a human in the loop? If you can answer yes to all five, you're ahead of most companies in the world.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isn't abstract — it's local. Uzbekistan is building digital infrastructure right now, which means the decisions made today will shape how AI affects people for decades. There are specific issues: the language divide between Uzbek and Russian, the urban-rural data gap, and a young population that will be most affected by these systems. The good news is we can learn from the mistakes the US and Europe already made. We don't have to repeat them.</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takeaway is simple: AI ethics is your responsibility. Not the government's, not your company's — yours. Every model you build reflects choices about who benefits and who gets harmed. The technical skills we're teaching you are powerful. Use them carefully. Next class is our lab — you'll frame a real ML problem and take the module quiz.</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class is the lab. Come prepared. You'll be doing Activity 3 — framing the telecom churn prediction problem from scratch. And there's a quiz at the end covering everything from Module 1. Review the ML types, the workflow, the ethics principles. If you paid attention these four classes, you'll be fine.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class of Module 1. Today is hands-on — you'll apply everything we've covered. First, a warm-up to get your brains going. Then Activity 3, which is the main event: framing a telecom churn prediction problem from scratch. After that, a quiz to see where you stand. No surprises — everything on the quiz was covered in class.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timeline. We move fast today, so stay focused. Warm-up is 10 minutes to get everyone on the same page. Then I'll explain Activity 3, you'll form teams, and work for 35 minutes. Quick presentations, then the quiz. Let's go.</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fire round. I'll throw questions and you shout answers. Don't be shy — wrong answers are fine, this is warm-up. Ready? Let's go.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 work at a telecom company. Management comes to you and says "we're losing subscribers, fix it with AI." That's all they give you. Your job is to turn that vague request into a concrete ML problem. By the end, you'll have a document that a data science team could actually work from. This is the most important skill in ML — problem framing.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components. Each one matters. The most common mistake I see: people jump straight to features without defining the problem or the target variable. What counts as churn? Customer canceled? Inactive for 30 days? Ported their number? Your definition changes everything. Take 5 minutes to discuss the definition before you start listing features.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into groups of 3-4. I want you to mix up — sit with people you haven't worked with yet. Assign roles right now, don't waste time on that later. The challenger role is the most important — your job is to push back on every assumption. "Why that definition of churn? Why those features? How do we know this data exists?" That kind of questioning makes better ML projects.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hints while you work. Prepaid and postpaid customers churn in completely different ways. A postpaid customer cancels a contract. A prepaid customer just stops recharging — they don't tell you they're leaving. That changes your target variable. Also think about time horizon — predicting 7-day churn gives you less time to act but more accuracy. Ninety-day churn gives you time but less precision. Trade-offs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I'll walk around and check in with each group. If you're stuck on the definition, that's normal — it's the hardest part. Push through it. Don't aim for perfect, aim for defensible. Can you explain why you made each choice?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 up. Let's hear from each group. Two minutes — be concise. I want the class listening for differences. Did every group define churn the same way? Which features showed up in every group? Where did groups disagree? The disagreements are the most interesting part.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how much time you spent just defining things. That's real ML work. In industry, the problem framing phase can take weeks. The groups that defined churn precisely had an easier time choosing features. The ones that stayed vague struggled. That's the lesson: precision in problem definition saves you time everywhere else.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60 seconds to think about these questions. No need to share — this is for your own learning. The framing exercise maps directly to the first three steps of the ML workflow: problem definition, data identification, and preparation planning. Everything we've covered in Module 1 came together in that activity.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time. Fifteen questions, twenty minutes. Everything is from what we covered in class. No surprises. Read each question carefully — some have "which of the following is NOT" phrasing. If you're stuck, skip it and come back.</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breakdown so you can allocate your time. No section is weighted more than others. If you're strong on one area and weak on another, spend your time on the weak spots. Pencils up in 20 minutes.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wraps Module 1. You came in two weeks ago knowing AI as a buzzword. Now you can define it, classify ML problems, walk through the workflow, discuss real applications, and argue about ethics. Most importantly, you just framed a real ML problem. In Module 2, we start building the technical skills — Python, math, and data manipulation. The foundation you built here is what everything else rests 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is where we go from concepts to code. If you've never programmed before, don't panic — we start from zero. If you have some experience, the first class will be review for you, and it picks up quickly after that. I'll share a pre-class Python setup guide so your environment is ready on day one. See you next week.</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thing. Take your group's work and create your own individual version. It's fine to build on what your group did, but add your own thinking. Include a lessons learned section — what would you change if you did this again? Submit on the LMS. This is your Module 1 assignment. After this, you start fresh with Module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Module 1: Introduction to AI and ML</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r>
              <a:t>UN AI/ML Mentorship Program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1: What is AI? History + AI vs ML vs DL + ML Types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Welcome to AI and Machine Learning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1, Class 1</a:t>
            </a:r>
          </a:p>
          <a:p>
            <a:pPr>
              <a:spcAft>
                <a:spcPts val="800"/>
              </a:spcAft>
              <a:defRPr sz="1600">
                <a:solidFill>
                  <a:srgbClr val="333333"/>
                </a:solidFill>
              </a:defRPr>
            </a:pPr>
            <a:r>
              <a:t>What is AI? Where did it come from? How do machines learn?</a:t>
            </a:r>
          </a:p>
          <a:p>
            <a:pPr>
              <a:spcAft>
                <a:spcPts val="800"/>
              </a:spcAft>
              <a:defRPr sz="1600">
                <a:solidFill>
                  <a:srgbClr val="333333"/>
                </a:solidFill>
              </a:defRPr>
            </a:pPr>
            <a:r>
              <a:t>Today: History, key ideas, AI/ML/DL, and the three types of ML</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Clean title card with module number, class number, UN program branding.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Your First ML Model — Live Demo</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Open Google Colab</a:t>
            </a:r>
          </a:p>
          <a:p>
            <a:pPr>
              <a:spcAft>
                <a:spcPts val="800"/>
              </a:spcAft>
              <a:defRPr sz="1600">
                <a:solidFill>
                  <a:srgbClr val="333333"/>
                </a:solidFill>
              </a:defRPr>
            </a:pPr>
            <a:r>
              <a:t>Paste 5 lines of code</a:t>
            </a:r>
          </a:p>
          <a:p>
            <a:pPr>
              <a:spcAft>
                <a:spcPts val="800"/>
              </a:spcAft>
              <a:defRPr sz="1600">
                <a:solidFill>
                  <a:srgbClr val="333333"/>
                </a:solidFill>
              </a:defRPr>
            </a:pPr>
            <a:r>
              <a:t>Load a small dataset, train a Random Forest classifier, see predictions</a:t>
            </a:r>
          </a:p>
          <a:p>
            <a:pPr>
              <a:spcAft>
                <a:spcPts val="800"/>
              </a:spcAft>
              <a:defRPr sz="1600">
                <a:solidFill>
                  <a:srgbClr val="333333"/>
                </a:solidFill>
              </a:defRPr>
            </a:pPr>
            <a:r>
              <a:t>Total time: under 60 seconds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Colab notebook projected live. Five lines of code visible. Output showing predictions.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You Just Saw</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We loaded data (input examples with known answers)</a:t>
            </a:r>
          </a:p>
          <a:p>
            <a:pPr>
              <a:spcAft>
                <a:spcPts val="800"/>
              </a:spcAft>
              <a:defRPr sz="1600">
                <a:solidFill>
                  <a:srgbClr val="333333"/>
                </a:solidFill>
              </a:defRPr>
            </a:pPr>
            <a:r>
              <a:t>We trained a model (the algorithm found patterns on its own)</a:t>
            </a:r>
          </a:p>
          <a:p>
            <a:pPr>
              <a:spcAft>
                <a:spcPts val="800"/>
              </a:spcAft>
              <a:defRPr sz="1600">
                <a:solidFill>
                  <a:srgbClr val="333333"/>
                </a:solidFill>
              </a:defRPr>
            </a:pPr>
            <a:r>
              <a:t>We made predictions on new data (the model applied what it learned)</a:t>
            </a:r>
          </a:p>
          <a:p>
            <a:pPr>
              <a:spcAft>
                <a:spcPts val="800"/>
              </a:spcAft>
              <a:defRPr sz="1600">
                <a:solidFill>
                  <a:srgbClr val="333333"/>
                </a:solidFill>
              </a:defRPr>
            </a:pPr>
            <a:r>
              <a:t>You don't understand it yet. That's fine.</a:t>
            </a:r>
          </a:p>
          <a:p>
            <a:pPr>
              <a:spcAft>
                <a:spcPts val="800"/>
              </a:spcAft>
              <a:defRPr sz="1600">
                <a:solidFill>
                  <a:srgbClr val="333333"/>
                </a:solidFill>
              </a:defRPr>
            </a:pPr>
            <a:r>
              <a:t>By Module 4, you will build this yourself from scratch.</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Three-step diagram: Data In → Model Learns → Predictions Out. "You are here" marker at step 1.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When you hear "Artificial Intelligence," what do you think of?</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Robots? Self-driving cars? ChatGPT?</a:t>
            </a:r>
          </a:p>
          <a:p>
            <a:pPr>
              <a:spcAft>
                <a:spcPts val="800"/>
              </a:spcAft>
              <a:defRPr sz="1600">
                <a:solidFill>
                  <a:srgbClr val="333333"/>
                </a:solidFill>
              </a:defRPr>
            </a:pPr>
            <a:r>
              <a:t>Movies vs reality — how different is it?</a:t>
            </a:r>
          </a:p>
          <a:p>
            <a:pPr>
              <a:spcAft>
                <a:spcPts val="800"/>
              </a:spcAft>
              <a:defRPr sz="1600">
                <a:solidFill>
                  <a:srgbClr val="333333"/>
                </a:solidFill>
              </a:defRPr>
            </a:pPr>
            <a:r>
              <a:t>Quick poll: "Name one AI thing you used today"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Collage — movie AI (Terminator, JARVIS) on the left vs real AI (Google Translate, Spotify recommendations, face unlock) on the right. &gt; Quick poll: "Raise your hand if you used AI today — phone keyboard predictions, Google search, YouTube recommendations count."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is AI? A Working Definition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AI: Systems that perform tasks normally requiring human intelligence</a:t>
            </a:r>
          </a:p>
          <a:p>
            <a:pPr>
              <a:spcAft>
                <a:spcPts val="800"/>
              </a:spcAft>
              <a:defRPr sz="1600">
                <a:solidFill>
                  <a:srgbClr val="333333"/>
                </a:solidFill>
              </a:defRPr>
            </a:pPr>
            <a:r>
              <a:t>Perception, reasoning, learning, decision-making, language understanding</a:t>
            </a:r>
          </a:p>
          <a:p>
            <a:pPr>
              <a:spcAft>
                <a:spcPts val="800"/>
              </a:spcAft>
              <a:defRPr sz="1600">
                <a:solidFill>
                  <a:srgbClr val="333333"/>
                </a:solidFill>
              </a:defRPr>
            </a:pPr>
            <a:r>
              <a:t>Key insight: AI is a broad field, not a single technology</a:t>
            </a:r>
          </a:p>
          <a:p>
            <a:pPr>
              <a:spcAft>
                <a:spcPts val="800"/>
              </a:spcAft>
              <a:defRPr sz="1600">
                <a:solidFill>
                  <a:srgbClr val="333333"/>
                </a:solidFill>
              </a:defRPr>
            </a:pPr>
            <a:r>
              <a:t>Exists on a spectrum — narrow AI (today) vs general AI (theoretical)</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Spectrum bar — left side "Narrow AI (calculator, spam filter, face recognition)" to right side "General AI (human-level reasoning)" with a marker showing "We are here" firmly on the narrow side.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AI Timeline — 1950s to 1980s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1950: Turing Test — "Can machines think?"</a:t>
            </a:r>
          </a:p>
          <a:p>
            <a:pPr>
              <a:spcAft>
                <a:spcPts val="800"/>
              </a:spcAft>
              <a:defRPr sz="1600">
                <a:solidFill>
                  <a:srgbClr val="333333"/>
                </a:solidFill>
              </a:defRPr>
            </a:pPr>
            <a:r>
              <a:t>1956: Dartmouth Conference — AI gets its name</a:t>
            </a:r>
          </a:p>
          <a:p>
            <a:pPr>
              <a:spcAft>
                <a:spcPts val="800"/>
              </a:spcAft>
              <a:defRPr sz="1600">
                <a:solidFill>
                  <a:srgbClr val="333333"/>
                </a:solidFill>
              </a:defRPr>
            </a:pPr>
            <a:r>
              <a:t>1960s-70s: Rule-based systems, early optimism</a:t>
            </a:r>
          </a:p>
          <a:p>
            <a:pPr>
              <a:spcAft>
                <a:spcPts val="800"/>
              </a:spcAft>
              <a:defRPr sz="1600">
                <a:solidFill>
                  <a:srgbClr val="333333"/>
                </a:solidFill>
              </a:defRPr>
            </a:pPr>
            <a:r>
              <a:t>1974-1980: First "AI Winter" — overpromised, underdelivered</a:t>
            </a:r>
          </a:p>
          <a:p>
            <a:pPr>
              <a:spcAft>
                <a:spcPts val="800"/>
              </a:spcAft>
              <a:defRPr sz="1600">
                <a:solidFill>
                  <a:srgbClr val="333333"/>
                </a:solidFill>
              </a:defRPr>
            </a:pPr>
            <a:r>
              <a:t>1980s: Expert systems boom, then bust (second winter)</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Horizontal timeline with key dates, icons for each event. Highlight the two "winter" periods in blue/cold colors.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AI Timeline — 1990s to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1997: IBM Deep Blue beats Kasparov at chess</a:t>
            </a:r>
          </a:p>
          <a:p>
            <a:pPr>
              <a:spcAft>
                <a:spcPts val="800"/>
              </a:spcAft>
              <a:defRPr sz="1600">
                <a:solidFill>
                  <a:srgbClr val="333333"/>
                </a:solidFill>
              </a:defRPr>
            </a:pPr>
            <a:r>
              <a:t>2006: Geoffrey Hinton's deep learning breakthrough</a:t>
            </a:r>
          </a:p>
          <a:p>
            <a:pPr>
              <a:spcAft>
                <a:spcPts val="800"/>
              </a:spcAft>
              <a:defRPr sz="1600">
                <a:solidFill>
                  <a:srgbClr val="333333"/>
                </a:solidFill>
              </a:defRPr>
            </a:pPr>
            <a:r>
              <a:t>2012: AlexNet wins ImageNet — deep learning goes mainstream</a:t>
            </a:r>
          </a:p>
          <a:p>
            <a:pPr>
              <a:spcAft>
                <a:spcPts val="800"/>
              </a:spcAft>
              <a:defRPr sz="1600">
                <a:solidFill>
                  <a:srgbClr val="333333"/>
                </a:solidFill>
              </a:defRPr>
            </a:pPr>
            <a:r>
              <a:t>2016: AlphaGo beats world champion Lee Sedol</a:t>
            </a:r>
          </a:p>
          <a:p>
            <a:pPr>
              <a:spcAft>
                <a:spcPts val="800"/>
              </a:spcAft>
              <a:defRPr sz="1600">
                <a:solidFill>
                  <a:srgbClr val="333333"/>
                </a:solidFill>
              </a:defRPr>
            </a:pPr>
            <a:r>
              <a:t>2022-2024: ChatGPT, GPT-4, Gemini — large language models explode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Continuation of the timeline from Slide 4. Include small images — Deep Blue, AlphaGo board, ChatGPT interface.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AI is Already Here in Uzbekistan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Presidential decree on AI development (2023)</a:t>
            </a:r>
          </a:p>
          <a:p>
            <a:pPr>
              <a:spcAft>
                <a:spcPts val="800"/>
              </a:spcAft>
              <a:defRPr sz="1600">
                <a:solidFill>
                  <a:srgbClr val="333333"/>
                </a:solidFill>
              </a:defRPr>
            </a:pPr>
            <a:r>
              <a:t>Uztelecom: AI chatbots handling customer queries</a:t>
            </a:r>
          </a:p>
          <a:p>
            <a:pPr>
              <a:spcAft>
                <a:spcPts val="800"/>
              </a:spcAft>
              <a:defRPr sz="1600">
                <a:solidFill>
                  <a:srgbClr val="333333"/>
                </a:solidFill>
              </a:defRPr>
            </a:pPr>
            <a:r>
              <a:t>Banking: Fraud detection at Kapitalbank, Uzum</a:t>
            </a:r>
          </a:p>
          <a:p>
            <a:pPr>
              <a:spcAft>
                <a:spcPts val="800"/>
              </a:spcAft>
              <a:defRPr sz="1600">
                <a:solidFill>
                  <a:srgbClr val="333333"/>
                </a:solidFill>
              </a:defRPr>
            </a:pPr>
            <a:r>
              <a:t>Agriculture: Satellite imagery for crop monitoring</a:t>
            </a:r>
          </a:p>
          <a:p>
            <a:pPr>
              <a:spcAft>
                <a:spcPts val="800"/>
              </a:spcAft>
              <a:defRPr sz="1600">
                <a:solidFill>
                  <a:srgbClr val="333333"/>
                </a:solidFill>
              </a:defRPr>
            </a:pPr>
            <a:r>
              <a:t>Government: Digital ID systems, e-government portals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Map of Uzbekistan with icons pinned to different sectors — telecom, banking, agriculture, government.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How AI, ML, and DL Relate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AI: The broadest category — any intelligent system</a:t>
            </a:r>
          </a:p>
          <a:p>
            <a:pPr>
              <a:spcAft>
                <a:spcPts val="800"/>
              </a:spcAft>
              <a:defRPr sz="1600">
                <a:solidFill>
                  <a:srgbClr val="333333"/>
                </a:solidFill>
              </a:defRPr>
            </a:pPr>
            <a:r>
              <a:t>ML: A subset of AI — systems that learn from data (not hardcoded rules)</a:t>
            </a:r>
          </a:p>
          <a:p>
            <a:pPr>
              <a:spcAft>
                <a:spcPts val="800"/>
              </a:spcAft>
              <a:defRPr sz="1600">
                <a:solidFill>
                  <a:srgbClr val="333333"/>
                </a:solidFill>
              </a:defRPr>
            </a:pPr>
            <a:r>
              <a:t>DL: A subset of ML — uses neural networks with many layers</a:t>
            </a:r>
          </a:p>
          <a:p>
            <a:pPr>
              <a:spcAft>
                <a:spcPts val="800"/>
              </a:spcAft>
              <a:defRPr sz="1600">
                <a:solidFill>
                  <a:srgbClr val="333333"/>
                </a:solidFill>
              </a:defRPr>
            </a:pPr>
            <a:r>
              <a:t>All DL is ML, all ML is AI — but not the other way around</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Nested concentric circles — outermost "Artificial Intelligence," middle "Machine Learning," innermost "Deep Learning." Each ring has 2-3 example technologies listed.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Traditional AI vs Machine Learning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Traditional AI: Human writes the rules → system follows them</a:t>
            </a:r>
          </a:p>
          <a:p>
            <a:pPr>
              <a:spcAft>
                <a:spcPts val="800"/>
              </a:spcAft>
              <a:defRPr sz="1600">
                <a:solidFill>
                  <a:srgbClr val="333333"/>
                </a:solidFill>
              </a:defRPr>
            </a:pPr>
            <a:r>
              <a:t>ML: Human provides data → system discovers the rules</a:t>
            </a:r>
          </a:p>
          <a:p>
            <a:pPr>
              <a:spcAft>
                <a:spcPts val="800"/>
              </a:spcAft>
              <a:defRPr sz="1600">
                <a:solidFill>
                  <a:srgbClr val="333333"/>
                </a:solidFill>
              </a:defRPr>
            </a:pPr>
            <a:r>
              <a:t>Example: Spam filter</a:t>
            </a:r>
          </a:p>
          <a:p>
            <a:pPr>
              <a:spcAft>
                <a:spcPts val="800"/>
              </a:spcAft>
              <a:defRPr sz="1600">
                <a:solidFill>
                  <a:srgbClr val="333333"/>
                </a:solidFill>
              </a:defRPr>
            </a:pPr>
            <a:r>
              <a:t>Rule-based: "If email contains 'lottery' → spam"</a:t>
            </a:r>
          </a:p>
          <a:p>
            <a:pPr>
              <a:spcAft>
                <a:spcPts val="800"/>
              </a:spcAft>
              <a:defRPr sz="1600">
                <a:solidFill>
                  <a:srgbClr val="333333"/>
                </a:solidFill>
              </a:defRPr>
            </a:pPr>
            <a:r>
              <a:t>ML-based: Train on 10,000 labeled emails → learns patterns itself</a:t>
            </a:r>
          </a:p>
          <a:p>
            <a:pPr>
              <a:spcAft>
                <a:spcPts val="800"/>
              </a:spcAft>
              <a:defRPr sz="1600">
                <a:solidFill>
                  <a:srgbClr val="333333"/>
                </a:solidFill>
              </a:defRPr>
            </a:pPr>
            <a:r>
              <a:t>ML scales better — rules break when the world is complex</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Two-column comparison diagram. Left: "Human writes rules → Program → Output." Right: "Data + Answers → ML Algorithm → Rules/Model."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Machine Learning vs Deep Learning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ML: Works well with structured data (tables, spreadsheets)</a:t>
            </a:r>
          </a:p>
          <a:p>
            <a:pPr>
              <a:spcAft>
                <a:spcPts val="800"/>
              </a:spcAft>
              <a:defRPr sz="1600">
                <a:solidFill>
                  <a:srgbClr val="333333"/>
                </a:solidFill>
              </a:defRPr>
            </a:pPr>
            <a:r>
              <a:t>DL: Excels with unstructured data (images, text, audio, video)</a:t>
            </a:r>
          </a:p>
          <a:p>
            <a:pPr>
              <a:spcAft>
                <a:spcPts val="800"/>
              </a:spcAft>
              <a:defRPr sz="1600">
                <a:solidFill>
                  <a:srgbClr val="333333"/>
                </a:solidFill>
              </a:defRPr>
            </a:pPr>
            <a:r>
              <a:t>ML: Needs manual feature engineering — you tell it what to look at</a:t>
            </a:r>
          </a:p>
          <a:p>
            <a:pPr>
              <a:spcAft>
                <a:spcPts val="800"/>
              </a:spcAft>
              <a:defRPr sz="1600">
                <a:solidFill>
                  <a:srgbClr val="333333"/>
                </a:solidFill>
              </a:defRPr>
            </a:pPr>
            <a:r>
              <a:t>DL: Learns features automatically from raw data</a:t>
            </a:r>
          </a:p>
          <a:p>
            <a:pPr>
              <a:spcAft>
                <a:spcPts val="800"/>
              </a:spcAft>
              <a:defRPr sz="1600">
                <a:solidFill>
                  <a:srgbClr val="333333"/>
                </a:solidFill>
              </a:defRPr>
            </a:pPr>
            <a:r>
              <a:t>Trade-off: DL needs much more data and compute power</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Two-column table. ML column: tabular data icon, feature engineering arrow, small dataset icon. DL column: image/audio icons, automatic feature learning, GPU cluster icon.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Where Does Data Science Fit?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Data Science = intersection of math/statistics + domain knowledge + programming</a:t>
            </a:r>
          </a:p>
          <a:p>
            <a:pPr>
              <a:spcAft>
                <a:spcPts val="800"/>
              </a:spcAft>
              <a:defRPr sz="1600">
                <a:solidFill>
                  <a:srgbClr val="333333"/>
                </a:solidFill>
              </a:defRPr>
            </a:pPr>
            <a:r>
              <a:t>ML is a tool within the data science toolkit</a:t>
            </a:r>
          </a:p>
          <a:p>
            <a:pPr>
              <a:spcAft>
                <a:spcPts val="800"/>
              </a:spcAft>
              <a:defRPr sz="1600">
                <a:solidFill>
                  <a:srgbClr val="333333"/>
                </a:solidFill>
              </a:defRPr>
            </a:pPr>
            <a:r>
              <a:t>Data scientists also do analysis, visualization, storytelling</a:t>
            </a:r>
          </a:p>
          <a:p>
            <a:pPr>
              <a:spcAft>
                <a:spcPts val="800"/>
              </a:spcAft>
              <a:defRPr sz="1600">
                <a:solidFill>
                  <a:srgbClr val="333333"/>
                </a:solidFill>
              </a:defRPr>
            </a:pPr>
            <a:r>
              <a:t>You don't need to be an expert in all three — but you need literacy in each</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Classic Venn diagram — three overlapping circles: "Mathematics &amp; Statistics," "Computer Science &amp; Programming," "Domain Expertise." Intersection labeled "Data Science." ML highlighted as a subset within the overlap.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Things People Get Wrong About AI</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"AI will replace all jobs" → It will change jobs, not eliminate them</a:t>
            </a:r>
          </a:p>
          <a:p>
            <a:pPr>
              <a:spcAft>
                <a:spcPts val="800"/>
              </a:spcAft>
              <a:defRPr sz="1600">
                <a:solidFill>
                  <a:srgbClr val="333333"/>
                </a:solidFill>
              </a:defRPr>
            </a:pPr>
            <a:r>
              <a:t>"AI understands things" → It finds patterns, it doesn't comprehend</a:t>
            </a:r>
          </a:p>
          <a:p>
            <a:pPr>
              <a:spcAft>
                <a:spcPts val="800"/>
              </a:spcAft>
              <a:defRPr sz="1600">
                <a:solidFill>
                  <a:srgbClr val="333333"/>
                </a:solidFill>
              </a:defRPr>
            </a:pPr>
            <a:r>
              <a:t>"More data always means better AI" → Bad data = bad results</a:t>
            </a:r>
          </a:p>
          <a:p>
            <a:pPr>
              <a:spcAft>
                <a:spcPts val="800"/>
              </a:spcAft>
              <a:defRPr sz="1600">
                <a:solidFill>
                  <a:srgbClr val="333333"/>
                </a:solidFill>
              </a:defRPr>
            </a:pPr>
            <a:r>
              <a:t>"AI is objective" → AI inherits biases from its training data</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Four myth cards — each with a "myth" crossed out in red and the "reality" in green below it.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Terms You Should Know After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Artificial Intelligence — systems performing tasks requiring human intelligence</a:t>
            </a:r>
          </a:p>
          <a:p>
            <a:pPr>
              <a:spcAft>
                <a:spcPts val="800"/>
              </a:spcAft>
              <a:defRPr sz="1600">
                <a:solidFill>
                  <a:srgbClr val="333333"/>
                </a:solidFill>
              </a:defRPr>
            </a:pPr>
            <a:r>
              <a:t>Machine Learning — learning patterns from data without explicit programming</a:t>
            </a:r>
          </a:p>
          <a:p>
            <a:pPr>
              <a:spcAft>
                <a:spcPts val="800"/>
              </a:spcAft>
              <a:defRPr sz="1600">
                <a:solidFill>
                  <a:srgbClr val="333333"/>
                </a:solidFill>
              </a:defRPr>
            </a:pPr>
            <a:r>
              <a:t>Deep Learning — ML using multi-layered neural networks</a:t>
            </a:r>
          </a:p>
          <a:p>
            <a:pPr>
              <a:spcAft>
                <a:spcPts val="800"/>
              </a:spcAft>
              <a:defRPr sz="1600">
                <a:solidFill>
                  <a:srgbClr val="333333"/>
                </a:solidFill>
              </a:defRPr>
            </a:pPr>
            <a:r>
              <a:t>Narrow AI — AI designed for a specific task</a:t>
            </a:r>
          </a:p>
          <a:p>
            <a:pPr>
              <a:spcAft>
                <a:spcPts val="800"/>
              </a:spcAft>
              <a:defRPr sz="1600">
                <a:solidFill>
                  <a:srgbClr val="333333"/>
                </a:solidFill>
              </a:defRPr>
            </a:pPr>
            <a:r>
              <a:t>General AI — hypothetical AI with human-level reasoning</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Clean glossary layout, each term with a small icon.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Think-Pair-Share: AI in Your Daily Life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Think (1 min): List 3 AI-powered tools you use regularly</a:t>
            </a:r>
          </a:p>
          <a:p>
            <a:pPr>
              <a:spcAft>
                <a:spcPts val="800"/>
              </a:spcAft>
              <a:defRPr sz="1600">
                <a:solidFill>
                  <a:srgbClr val="333333"/>
                </a:solidFill>
              </a:defRPr>
            </a:pPr>
            <a:r>
              <a:t>Pair (2 min): Compare lists with your neighbor</a:t>
            </a:r>
          </a:p>
          <a:p>
            <a:pPr>
              <a:spcAft>
                <a:spcPts val="800"/>
              </a:spcAft>
              <a:defRPr sz="1600">
                <a:solidFill>
                  <a:srgbClr val="333333"/>
                </a:solidFill>
              </a:defRPr>
            </a:pPr>
            <a:r>
              <a:t>Share (3 min): Each pair shares their best example with the class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Three-step diagram: Think (person icon) → Pair (two people) → Share (group icon).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Now That We Know What ML Is — How Does It Learn?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AI &gt; ML &gt; DL — we've covered the what</a:t>
            </a:r>
          </a:p>
          <a:p>
            <a:pPr>
              <a:spcAft>
                <a:spcPts val="800"/>
              </a:spcAft>
              <a:defRPr sz="1600">
                <a:solidFill>
                  <a:srgbClr val="333333"/>
                </a:solidFill>
              </a:defRPr>
            </a:pPr>
            <a:r>
              <a:t>Now: HOW do machines learn? Three fundamentally different approaches</a:t>
            </a:r>
          </a:p>
          <a:p>
            <a:pPr>
              <a:spcAft>
                <a:spcPts val="800"/>
              </a:spcAft>
              <a:defRPr sz="1600">
                <a:solidFill>
                  <a:srgbClr val="333333"/>
                </a:solidFill>
              </a:defRPr>
            </a:pPr>
            <a:r>
              <a:t>Think of it like how humans learn — teacher, self-exploration, or trial and error</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Nested circles from earlier, with an arrow pointing into the ML circle saying "Now: inside here."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Three Ways Machines Learn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Supervised Learning: Learn from labeled examples (teacher gives answers)</a:t>
            </a:r>
          </a:p>
          <a:p>
            <a:pPr>
              <a:spcAft>
                <a:spcPts val="800"/>
              </a:spcAft>
              <a:defRPr sz="1600">
                <a:solidFill>
                  <a:srgbClr val="333333"/>
                </a:solidFill>
              </a:defRPr>
            </a:pPr>
            <a:r>
              <a:t>Unsupervised Learning: Find patterns in unlabeled data (no teacher)</a:t>
            </a:r>
          </a:p>
          <a:p>
            <a:pPr>
              <a:spcAft>
                <a:spcPts val="800"/>
              </a:spcAft>
              <a:defRPr sz="1600">
                <a:solidFill>
                  <a:srgbClr val="333333"/>
                </a:solidFill>
              </a:defRPr>
            </a:pPr>
            <a:r>
              <a:t>Reinforcement Learning: Learn by trial and error (rewards and penalties)</a:t>
            </a:r>
          </a:p>
          <a:p>
            <a:pPr>
              <a:spcAft>
                <a:spcPts val="800"/>
              </a:spcAft>
              <a:defRPr sz="1600">
                <a:solidFill>
                  <a:srgbClr val="333333"/>
                </a:solidFill>
              </a:defRPr>
            </a:pPr>
            <a:r>
              <a:t>Each type fits different problems — there's no "best" one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Three-column layout, each with an analogy icon: teacher with answer key, explorer with magnifying glass, dog with treat.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Supervised Learning — Learning with Labels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Training data includes input-output pairs (features → label)</a:t>
            </a:r>
          </a:p>
          <a:p>
            <a:pPr>
              <a:spcAft>
                <a:spcPts val="800"/>
              </a:spcAft>
              <a:defRPr sz="1600">
                <a:solidFill>
                  <a:srgbClr val="333333"/>
                </a:solidFill>
              </a:defRPr>
            </a:pPr>
            <a:r>
              <a:t>Model learns the mapping: given these inputs, predict this output</a:t>
            </a:r>
          </a:p>
          <a:p>
            <a:pPr>
              <a:spcAft>
                <a:spcPts val="800"/>
              </a:spcAft>
              <a:defRPr sz="1600">
                <a:solidFill>
                  <a:srgbClr val="333333"/>
                </a:solidFill>
              </a:defRPr>
            </a:pPr>
            <a:r>
              <a:t>Two sub-types: Classification (categories) and Regression (numbers)</a:t>
            </a:r>
          </a:p>
          <a:p>
            <a:pPr>
              <a:spcAft>
                <a:spcPts val="800"/>
              </a:spcAft>
              <a:defRPr sz="1600">
                <a:solidFill>
                  <a:srgbClr val="333333"/>
                </a:solidFill>
              </a:defRPr>
            </a:pPr>
            <a:r>
              <a:t>Most common type in industry — ~70% of ML applications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Diagram showing training data (table with features + label column) → ML model → predictions on new data.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Supervised Learning in Action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Classification: Email spam or not spam? Customer will churn or stay?</a:t>
            </a:r>
          </a:p>
          <a:p>
            <a:pPr>
              <a:spcAft>
                <a:spcPts val="800"/>
              </a:spcAft>
              <a:defRPr sz="1600">
                <a:solidFill>
                  <a:srgbClr val="333333"/>
                </a:solidFill>
              </a:defRPr>
            </a:pPr>
            <a:r>
              <a:t>Regression: What will the house price be? How much revenue next quarter?</a:t>
            </a:r>
          </a:p>
          <a:p>
            <a:pPr>
              <a:spcAft>
                <a:spcPts val="800"/>
              </a:spcAft>
              <a:defRPr sz="1600">
                <a:solidFill>
                  <a:srgbClr val="333333"/>
                </a:solidFill>
              </a:defRPr>
            </a:pPr>
            <a:r>
              <a:t>Uzbekistan example: Uztelecom predicting which customers might cancel their plan</a:t>
            </a:r>
          </a:p>
          <a:p>
            <a:pPr>
              <a:spcAft>
                <a:spcPts val="800"/>
              </a:spcAft>
              <a:defRPr sz="1600">
                <a:solidFill>
                  <a:srgbClr val="333333"/>
                </a:solidFill>
              </a:defRPr>
            </a:pPr>
            <a:r>
              <a:t>Uzbekistan example: Classifying customer complaints by category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Two-column split: Classification (discrete buckets icon) vs Regression (continuous line graph icon). Uzbekistan examples highlighted.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Unsupervised Learning — Finding Hidden Structure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No labels in the data — model discovers patterns on its own</a:t>
            </a:r>
          </a:p>
          <a:p>
            <a:pPr>
              <a:spcAft>
                <a:spcPts val="800"/>
              </a:spcAft>
              <a:defRPr sz="1600">
                <a:solidFill>
                  <a:srgbClr val="333333"/>
                </a:solidFill>
              </a:defRPr>
            </a:pPr>
            <a:r>
              <a:t>Main tasks: Clustering (grouping similar items) and Dimensionality Reduction</a:t>
            </a:r>
          </a:p>
          <a:p>
            <a:pPr>
              <a:spcAft>
                <a:spcPts val="800"/>
              </a:spcAft>
              <a:defRPr sz="1600">
                <a:solidFill>
                  <a:srgbClr val="333333"/>
                </a:solidFill>
              </a:defRPr>
            </a:pPr>
            <a:r>
              <a:t>Useful for exploration — "What groups exist in this data?"</a:t>
            </a:r>
          </a:p>
          <a:p>
            <a:pPr>
              <a:spcAft>
                <a:spcPts val="800"/>
              </a:spcAft>
              <a:defRPr sz="1600">
                <a:solidFill>
                  <a:srgbClr val="333333"/>
                </a:solidFill>
              </a:defRPr>
            </a:pPr>
            <a:r>
              <a:t>Harder to evaluate — no "right answer" to compare against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Scatter plot showing unlabeled data points → same plot with colored clusters after unsupervised learning.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Unsupervised Learning in Action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Customer segmentation: Group users by behavior (no predefined categories)</a:t>
            </a:r>
          </a:p>
          <a:p>
            <a:pPr>
              <a:spcAft>
                <a:spcPts val="800"/>
              </a:spcAft>
              <a:defRPr sz="1600">
                <a:solidFill>
                  <a:srgbClr val="333333"/>
                </a:solidFill>
              </a:defRPr>
            </a:pPr>
            <a:r>
              <a:t>Anomaly detection: Find unusual transactions in banking data</a:t>
            </a:r>
          </a:p>
          <a:p>
            <a:pPr>
              <a:spcAft>
                <a:spcPts val="800"/>
              </a:spcAft>
              <a:defRPr sz="1600">
                <a:solidFill>
                  <a:srgbClr val="333333"/>
                </a:solidFill>
              </a:defRPr>
            </a:pPr>
            <a:r>
              <a:t>Topic modeling: Discover themes in thousands of customer reviews</a:t>
            </a:r>
          </a:p>
          <a:p>
            <a:pPr>
              <a:spcAft>
                <a:spcPts val="800"/>
              </a:spcAft>
              <a:defRPr sz="1600">
                <a:solidFill>
                  <a:srgbClr val="333333"/>
                </a:solidFill>
              </a:defRPr>
            </a:pPr>
            <a:r>
              <a:t>Uzbekistan example: Grouping Uzum marketplace shoppers by purchasing patterns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Three real-world icons: customer groups, suspicious transaction alert, word cloud from reviews.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Reinforcement Learning — Learning by Doing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Agent interacts with an environment, takes actions, gets rewards</a:t>
            </a:r>
          </a:p>
          <a:p>
            <a:pPr>
              <a:spcAft>
                <a:spcPts val="800"/>
              </a:spcAft>
              <a:defRPr sz="1600">
                <a:solidFill>
                  <a:srgbClr val="333333"/>
                </a:solidFill>
              </a:defRPr>
            </a:pPr>
            <a:r>
              <a:t>Goal: Maximize cumulative reward over time</a:t>
            </a:r>
          </a:p>
          <a:p>
            <a:pPr>
              <a:spcAft>
                <a:spcPts val="800"/>
              </a:spcAft>
              <a:defRPr sz="1600">
                <a:solidFill>
                  <a:srgbClr val="333333"/>
                </a:solidFill>
              </a:defRPr>
            </a:pPr>
            <a:r>
              <a:t>No labeled data needed — learns from experience</a:t>
            </a:r>
          </a:p>
          <a:p>
            <a:pPr>
              <a:spcAft>
                <a:spcPts val="800"/>
              </a:spcAft>
              <a:defRPr sz="1600">
                <a:solidFill>
                  <a:srgbClr val="333333"/>
                </a:solidFill>
              </a:defRPr>
            </a:pPr>
            <a:r>
              <a:t>Best for sequential decision-making problems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Loop diagram: Agent → Action → Environment → Reward → Agent (cycle).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Reinforcement Learning in Action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Game playing: AlphaGo, Chess engines, Atari games</a:t>
            </a:r>
          </a:p>
          <a:p>
            <a:pPr>
              <a:spcAft>
                <a:spcPts val="800"/>
              </a:spcAft>
              <a:defRPr sz="1600">
                <a:solidFill>
                  <a:srgbClr val="333333"/>
                </a:solidFill>
              </a:defRPr>
            </a:pPr>
            <a:r>
              <a:t>Robotics: Robot learning to walk, pick up objects</a:t>
            </a:r>
          </a:p>
          <a:p>
            <a:pPr>
              <a:spcAft>
                <a:spcPts val="800"/>
              </a:spcAft>
              <a:defRPr sz="1600">
                <a:solidFill>
                  <a:srgbClr val="333333"/>
                </a:solidFill>
              </a:defRPr>
            </a:pPr>
            <a:r>
              <a:t>Recommendations: Netflix/YouTube optimizing what to show next</a:t>
            </a:r>
          </a:p>
          <a:p>
            <a:pPr>
              <a:spcAft>
                <a:spcPts val="800"/>
              </a:spcAft>
              <a:defRPr sz="1600">
                <a:solidFill>
                  <a:srgbClr val="333333"/>
                </a:solidFill>
              </a:defRPr>
            </a:pPr>
            <a:r>
              <a:t>Uzbekistan example: Optimizing traffic light timing in Tashkent intersections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Four quadrant grid with an icon and example for each use case.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Side-by-Side: Three Types of ML</a:t>
            </a:r>
          </a:p>
        </p:txBody>
      </p:sp>
      <p:sp>
        <p:nvSpPr>
          <p:cNvPr id="4" name="TextBox 3"/>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Clean comparison table, color-coded columns.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How to Choose the Right ML Approach</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Do you have labeled data? → Yes → Supervised</a:t>
            </a:r>
          </a:p>
          <a:p>
            <a:pPr>
              <a:spcAft>
                <a:spcPts val="800"/>
              </a:spcAft>
              <a:defRPr sz="1600">
                <a:solidFill>
                  <a:srgbClr val="333333"/>
                </a:solidFill>
              </a:defRPr>
            </a:pPr>
            <a:r>
              <a:t>Predicting a category? → Classification</a:t>
            </a:r>
          </a:p>
          <a:p>
            <a:pPr>
              <a:spcAft>
                <a:spcPts val="800"/>
              </a:spcAft>
              <a:defRPr sz="1600">
                <a:solidFill>
                  <a:srgbClr val="333333"/>
                </a:solidFill>
              </a:defRPr>
            </a:pPr>
            <a:r>
              <a:t>Predicting a number? → Regression</a:t>
            </a:r>
          </a:p>
          <a:p>
            <a:pPr>
              <a:spcAft>
                <a:spcPts val="800"/>
              </a:spcAft>
              <a:defRPr sz="1600">
                <a:solidFill>
                  <a:srgbClr val="333333"/>
                </a:solidFill>
              </a:defRPr>
            </a:pPr>
            <a:r>
              <a:t>Do you have unlabeled data? → Yes → Unsupervised</a:t>
            </a:r>
          </a:p>
          <a:p>
            <a:pPr>
              <a:spcAft>
                <a:spcPts val="800"/>
              </a:spcAft>
              <a:defRPr sz="1600">
                <a:solidFill>
                  <a:srgbClr val="333333"/>
                </a:solidFill>
              </a:defRPr>
            </a:pPr>
            <a:r>
              <a:t>Looking for groups? → Clustering</a:t>
            </a:r>
          </a:p>
          <a:p>
            <a:pPr>
              <a:spcAft>
                <a:spcPts val="800"/>
              </a:spcAft>
              <a:defRPr sz="1600">
                <a:solidFill>
                  <a:srgbClr val="333333"/>
                </a:solidFill>
              </a:defRPr>
            </a:pPr>
            <a:r>
              <a:t>Reducing complexity? → Dimensionality Reduction</a:t>
            </a:r>
          </a:p>
          <a:p>
            <a:pPr>
              <a:spcAft>
                <a:spcPts val="800"/>
              </a:spcAft>
              <a:defRPr sz="1600">
                <a:solidFill>
                  <a:srgbClr val="333333"/>
                </a:solidFill>
              </a:defRPr>
            </a:pPr>
            <a:r>
              <a:t>Is this a sequential decision problem? → Reinforcement Learning</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Flowchart diagram with decision diamonds and outcome boxes. Color-coded paths matching the comparison table.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Activity 1: Classify the Problem</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I'll describe 8 real-world scenarios</a:t>
            </a:r>
          </a:p>
          <a:p>
            <a:pPr>
              <a:spcAft>
                <a:spcPts val="800"/>
              </a:spcAft>
              <a:defRPr sz="1600">
                <a:solidFill>
                  <a:srgbClr val="333333"/>
                </a:solidFill>
              </a:defRPr>
            </a:pPr>
            <a:r>
              <a:t>For each one, decide: Supervised, Unsupervised, or Reinforcement?</a:t>
            </a:r>
          </a:p>
          <a:p>
            <a:pPr>
              <a:spcAft>
                <a:spcPts val="800"/>
              </a:spcAft>
              <a:defRPr sz="1600">
                <a:solidFill>
                  <a:srgbClr val="333333"/>
                </a:solidFill>
              </a:defRPr>
            </a:pPr>
            <a:r>
              <a:t>If supervised, is it Classification or Regression?</a:t>
            </a:r>
          </a:p>
          <a:p>
            <a:pPr>
              <a:spcAft>
                <a:spcPts val="800"/>
              </a:spcAft>
              <a:defRPr sz="1600">
                <a:solidFill>
                  <a:srgbClr val="333333"/>
                </a:solidFill>
              </a:defRPr>
            </a:pPr>
            <a:r>
              <a:t>Work in pairs, 7 minutes, then we discuss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Activity instruction card. List of 8 scenarios on a handout or projected. Scenarios: 1. Predicting house prices in Tashkent based on area, rooms, district 2. Grouping mobile subscribers by usage patterns 3. Teaching a robot to navigate a warehouse 4. Detecting fraudulent bank transactions 5. Recommending products on Uzum based on browsing history 6. Predicting next month's electricity demand in Samarkand 7. Finding topics in thousands of customer support tickets 8. A self-driving car learning to stay in its lane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Let's Review the Answers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Walk through each scenario with class input</a:t>
            </a:r>
          </a:p>
          <a:p>
            <a:pPr>
              <a:spcAft>
                <a:spcPts val="800"/>
              </a:spcAft>
              <a:defRPr sz="1600">
                <a:solidFill>
                  <a:srgbClr val="333333"/>
                </a:solidFill>
              </a:defRPr>
            </a:pPr>
            <a:r>
              <a:t>Highlight edge cases — some problems can use multiple approaches</a:t>
            </a:r>
          </a:p>
          <a:p>
            <a:pPr>
              <a:spcAft>
                <a:spcPts val="800"/>
              </a:spcAft>
              <a:defRPr sz="1600">
                <a:solidFill>
                  <a:srgbClr val="333333"/>
                </a:solidFill>
              </a:defRPr>
            </a:pPr>
            <a:r>
              <a:t>Key insight: The same problem can sometimes be framed differently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Answers revealed one by one, with the correct ML type highlighted.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Bonus: Other Learning Paradigms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Semi-supervised: Small amount of labeled data + large amount of unlabeled</a:t>
            </a:r>
          </a:p>
          <a:p>
            <a:pPr>
              <a:spcAft>
                <a:spcPts val="800"/>
              </a:spcAft>
              <a:defRPr sz="1600">
                <a:solidFill>
                  <a:srgbClr val="333333"/>
                </a:solidFill>
              </a:defRPr>
            </a:pPr>
            <a:r>
              <a:t>Self-supervised: Model creates its own labels from the data (e.g., predict the next word)</a:t>
            </a:r>
          </a:p>
          <a:p>
            <a:pPr>
              <a:spcAft>
                <a:spcPts val="800"/>
              </a:spcAft>
              <a:defRPr sz="1600">
                <a:solidFill>
                  <a:srgbClr val="333333"/>
                </a:solidFill>
              </a:defRPr>
            </a:pPr>
            <a:r>
              <a:t>ChatGPT uses self-supervised learning on massive text data</a:t>
            </a:r>
          </a:p>
          <a:p>
            <a:pPr>
              <a:spcAft>
                <a:spcPts val="800"/>
              </a:spcAft>
              <a:defRPr sz="1600">
                <a:solidFill>
                  <a:srgbClr val="333333"/>
                </a:solidFill>
              </a:defRPr>
            </a:pPr>
            <a:r>
              <a:t>These are growing in importance — less labeling needed</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Spectrum diagram: Supervised → Semi-supervised → Self-supervised → Unsupervised.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We saw a working ML model before defining anything — now you know what we're building toward</a:t>
            </a:r>
          </a:p>
          <a:p>
            <a:pPr>
              <a:spcAft>
                <a:spcPts val="800"/>
              </a:spcAft>
              <a:defRPr sz="1600">
                <a:solidFill>
                  <a:srgbClr val="333333"/>
                </a:solidFill>
              </a:defRPr>
            </a:pPr>
            <a:r>
              <a:t>AI is a broad field; ML and DL are specific approaches within it</a:t>
            </a:r>
          </a:p>
          <a:p>
            <a:pPr>
              <a:spcAft>
                <a:spcPts val="800"/>
              </a:spcAft>
              <a:defRPr sz="1600">
                <a:solidFill>
                  <a:srgbClr val="333333"/>
                </a:solidFill>
              </a:defRPr>
            </a:pPr>
            <a:r>
              <a:t>AI has a 70-year history with multiple boom-bust cycles</a:t>
            </a:r>
          </a:p>
          <a:p>
            <a:pPr>
              <a:spcAft>
                <a:spcPts val="800"/>
              </a:spcAft>
              <a:defRPr sz="1600">
                <a:solidFill>
                  <a:srgbClr val="333333"/>
                </a:solidFill>
              </a:defRPr>
            </a:pPr>
            <a:r>
              <a:t>Three types of ML: Supervised (labeled), Unsupervised (unlabeled), Reinforcement (rewards)</a:t>
            </a:r>
          </a:p>
          <a:p>
            <a:pPr>
              <a:spcAft>
                <a:spcPts val="800"/>
              </a:spcAft>
              <a:defRPr sz="1600">
                <a:solidFill>
                  <a:srgbClr val="333333"/>
                </a:solidFill>
              </a:defRPr>
            </a:pPr>
            <a:r>
              <a:t>Problem framing determines which approach you use</a:t>
            </a:r>
          </a:p>
          <a:p>
            <a:pPr>
              <a:spcAft>
                <a:spcPts val="800"/>
              </a:spcAft>
              <a:defRPr sz="1600">
                <a:solidFill>
                  <a:srgbClr val="333333"/>
                </a:solidFill>
              </a:defRPr>
            </a:pPr>
            <a:r>
              <a:t>Next class: Mathematical foundations — probability, statistics, and the ML workflow</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Summary icons for demo + AI history + ML types. Arrow to "Next: Foundations."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Next Class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Read: "A Brief History of AI" (linked article, ~15 min)</a:t>
            </a:r>
          </a:p>
          <a:p>
            <a:pPr>
              <a:spcAft>
                <a:spcPts val="800"/>
              </a:spcAft>
              <a:defRPr sz="1600">
                <a:solidFill>
                  <a:srgbClr val="333333"/>
                </a:solidFill>
              </a:defRPr>
            </a:pPr>
            <a:r>
              <a:t>Find: 3 examples of ML being used in Uzbekistan (any sector)</a:t>
            </a:r>
          </a:p>
          <a:p>
            <a:pPr>
              <a:spcAft>
                <a:spcPts val="800"/>
              </a:spcAft>
              <a:defRPr sz="1600">
                <a:solidFill>
                  <a:srgbClr val="333333"/>
                </a:solidFill>
              </a:defRPr>
            </a:pPr>
            <a:r>
              <a:t>For each example: classify as supervised, unsupervised, or reinforcement</a:t>
            </a:r>
          </a:p>
          <a:p>
            <a:pPr>
              <a:spcAft>
                <a:spcPts val="800"/>
              </a:spcAft>
              <a:defRPr sz="1600">
                <a:solidFill>
                  <a:srgbClr val="333333"/>
                </a:solidFill>
              </a:defRPr>
            </a:pPr>
            <a:r>
              <a:t>Review the comparison table and flowchart (study them)</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Checklist format with due date. ---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2: Foundations — Probability, Stats, ML Workflow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Mathematical Foundations and the ML Workflow</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1, Class 2</a:t>
            </a:r>
          </a:p>
          <a:p>
            <a:pPr>
              <a:spcAft>
                <a:spcPts val="800"/>
              </a:spcAft>
              <a:defRPr sz="1600">
                <a:solidFill>
                  <a:srgbClr val="333333"/>
                </a:solidFill>
              </a:defRPr>
            </a:pPr>
            <a:r>
              <a:t>Probability and statistics — intuition, not formulas</a:t>
            </a:r>
          </a:p>
          <a:p>
            <a:pPr>
              <a:spcAft>
                <a:spcPts val="800"/>
              </a:spcAft>
              <a:defRPr sz="1600">
                <a:solidFill>
                  <a:srgbClr val="333333"/>
                </a:solidFill>
              </a:defRPr>
            </a:pPr>
            <a:r>
              <a:t>The end-to-end ML workflow: from problem to deployment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Split visual: dice/charts on one side, workflow pipeline on the other.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You Don't Need to Be a Mathematician, But...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ML is built on probability and statistics — you need the intuition</a:t>
            </a:r>
          </a:p>
          <a:p>
            <a:pPr>
              <a:spcAft>
                <a:spcPts val="800"/>
              </a:spcAft>
              <a:defRPr sz="1600">
                <a:solidFill>
                  <a:srgbClr val="333333"/>
                </a:solidFill>
              </a:defRPr>
            </a:pPr>
            <a:r>
              <a:t>Understanding the "why" behind models prevents blind usage</a:t>
            </a:r>
          </a:p>
          <a:p>
            <a:pPr>
              <a:spcAft>
                <a:spcPts val="800"/>
              </a:spcAft>
              <a:defRPr sz="1600">
                <a:solidFill>
                  <a:srgbClr val="333333"/>
                </a:solidFill>
              </a:defRPr>
            </a:pPr>
            <a:r>
              <a:t>Goal today: Understand concepts, not memorize formulas</a:t>
            </a:r>
          </a:p>
          <a:p>
            <a:pPr>
              <a:spcAft>
                <a:spcPts val="800"/>
              </a:spcAft>
              <a:defRPr sz="1600">
                <a:solidFill>
                  <a:srgbClr val="333333"/>
                </a:solidFill>
              </a:defRPr>
            </a:pPr>
            <a:r>
              <a:t>Module 2 will go deeper — today is the appetizer</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Iceberg diagram — "What you see: predictions" above water, "What's underneath: probability, statistics, optimization" below water.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Probability — How Likely Is It?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Probability = how likely something is to happen (0 to 1)</a:t>
            </a:r>
          </a:p>
          <a:p>
            <a:pPr>
              <a:spcAft>
                <a:spcPts val="800"/>
              </a:spcAft>
              <a:defRPr sz="1600">
                <a:solidFill>
                  <a:srgbClr val="333333"/>
                </a:solidFill>
              </a:defRPr>
            </a:pPr>
            <a:r>
              <a:t>Coin flip: 50% heads, 50% tails — that's probability</a:t>
            </a:r>
          </a:p>
          <a:p>
            <a:pPr>
              <a:spcAft>
                <a:spcPts val="800"/>
              </a:spcAft>
              <a:defRPr sz="1600">
                <a:solidFill>
                  <a:srgbClr val="333333"/>
                </a:solidFill>
              </a:defRPr>
            </a:pPr>
            <a:r>
              <a:t>ML models output probabilities: "This email is 87% likely to be spam"</a:t>
            </a:r>
          </a:p>
          <a:p>
            <a:pPr>
              <a:spcAft>
                <a:spcPts val="800"/>
              </a:spcAft>
              <a:defRPr sz="1600">
                <a:solidFill>
                  <a:srgbClr val="333333"/>
                </a:solidFill>
              </a:defRPr>
            </a:pPr>
            <a:r>
              <a:t>The model doesn't say "yes" or "no" — it says "how confident am I?"</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Coin flip animation concept. Then a spam email with a confidence meter showing 87%.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Probability Distributions — What Could Happen?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Roll a fair die: each face has equal probability (1 in 6)</a:t>
            </a:r>
          </a:p>
          <a:p>
            <a:pPr>
              <a:spcAft>
                <a:spcPts val="800"/>
              </a:spcAft>
              <a:defRPr sz="1600">
                <a:solidFill>
                  <a:srgbClr val="333333"/>
                </a:solidFill>
              </a:defRPr>
            </a:pPr>
            <a:r>
              <a:t>That's a uniform distribution — all outcomes equally likely</a:t>
            </a:r>
          </a:p>
          <a:p>
            <a:pPr>
              <a:spcAft>
                <a:spcPts val="800"/>
              </a:spcAft>
              <a:defRPr sz="1600">
                <a:solidFill>
                  <a:srgbClr val="333333"/>
                </a:solidFill>
              </a:defRPr>
            </a:pPr>
            <a:r>
              <a:t>Customer call duration: most calls are short, few are very long</a:t>
            </a:r>
          </a:p>
          <a:p>
            <a:pPr>
              <a:spcAft>
                <a:spcPts val="800"/>
              </a:spcAft>
              <a:defRPr sz="1600">
                <a:solidFill>
                  <a:srgbClr val="333333"/>
                </a:solidFill>
              </a:defRPr>
            </a:pPr>
            <a:r>
              <a:t>That's a skewed distribution — some outcomes much more common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Side by side: flat bar chart (die, uniform) vs right-skewed curve (call duration).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Describing Data — Central Tendency and Spread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Mean: Average value — sensitive to outliers</a:t>
            </a:r>
          </a:p>
          <a:p>
            <a:pPr>
              <a:spcAft>
                <a:spcPts val="800"/>
              </a:spcAft>
              <a:defRPr sz="1600">
                <a:solidFill>
                  <a:srgbClr val="333333"/>
                </a:solidFill>
              </a:defRPr>
            </a:pPr>
            <a:r>
              <a:t>Median: Middle value — robust to outliers</a:t>
            </a:r>
          </a:p>
          <a:p>
            <a:pPr>
              <a:spcAft>
                <a:spcPts val="800"/>
              </a:spcAft>
              <a:defRPr sz="1600">
                <a:solidFill>
                  <a:srgbClr val="333333"/>
                </a:solidFill>
              </a:defRPr>
            </a:pPr>
            <a:r>
              <a:t>Standard deviation: How spread out the data is</a:t>
            </a:r>
          </a:p>
          <a:p>
            <a:pPr>
              <a:spcAft>
                <a:spcPts val="800"/>
              </a:spcAft>
              <a:defRPr sz="1600">
                <a:solidFill>
                  <a:srgbClr val="333333"/>
                </a:solidFill>
              </a:defRPr>
            </a:pPr>
            <a:r>
              <a:t>Analogy: Average salary in Uzbekistan vs median salary — very different stories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Salary distribution with mean and median marked — showing how an outlier CEO pulls the mean right while median stays put.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Correlation — Not Causation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Correlation: Two things tend to move together</a:t>
            </a:r>
          </a:p>
          <a:p>
            <a:pPr>
              <a:spcAft>
                <a:spcPts val="800"/>
              </a:spcAft>
              <a:defRPr sz="1600">
                <a:solidFill>
                  <a:srgbClr val="333333"/>
                </a:solidFill>
              </a:defRPr>
            </a:pPr>
            <a:r>
              <a:t>Temperature goes up → ice cream sales go up (positive correlation)</a:t>
            </a:r>
          </a:p>
          <a:p>
            <a:pPr>
              <a:spcAft>
                <a:spcPts val="800"/>
              </a:spcAft>
              <a:defRPr sz="1600">
                <a:solidFill>
                  <a:srgbClr val="333333"/>
                </a:solidFill>
              </a:defRPr>
            </a:pPr>
            <a:r>
              <a:t>Correlation does NOT mean causation</a:t>
            </a:r>
          </a:p>
          <a:p>
            <a:pPr>
              <a:spcAft>
                <a:spcPts val="800"/>
              </a:spcAft>
              <a:defRPr sz="1600">
                <a:solidFill>
                  <a:srgbClr val="333333"/>
                </a:solidFill>
              </a:defRPr>
            </a:pPr>
            <a:r>
              <a:t>Classic trap: Ice cream sales and drowning deaths both rise in summer</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Scatter plot showing positive correlation. Then a humorous "ice cream causes drowning?" diagram with the hidden variable (summer) revealed.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How Models Learn — The Downhill Walk</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Imagine you're blindfolded on a hilly landscape</a:t>
            </a:r>
          </a:p>
          <a:p>
            <a:pPr>
              <a:spcAft>
                <a:spcPts val="800"/>
              </a:spcAft>
              <a:defRPr sz="1600">
                <a:solidFill>
                  <a:srgbClr val="333333"/>
                </a:solidFill>
              </a:defRPr>
            </a:pPr>
            <a:r>
              <a:t>Goal: Find the lowest point (minimum error)</a:t>
            </a:r>
          </a:p>
          <a:p>
            <a:pPr>
              <a:spcAft>
                <a:spcPts val="800"/>
              </a:spcAft>
              <a:defRPr sz="1600">
                <a:solidFill>
                  <a:srgbClr val="333333"/>
                </a:solidFill>
              </a:defRPr>
            </a:pPr>
            <a:r>
              <a:t>Strategy: Feel the slope under your feet, step downhill</a:t>
            </a:r>
          </a:p>
          <a:p>
            <a:pPr>
              <a:spcAft>
                <a:spcPts val="800"/>
              </a:spcAft>
              <a:defRPr sz="1600">
                <a:solidFill>
                  <a:srgbClr val="333333"/>
                </a:solidFill>
              </a:defRPr>
            </a:pPr>
            <a:r>
              <a:t>Repeat until you can't go any lower — that's gradient descent</a:t>
            </a:r>
          </a:p>
          <a:p>
            <a:pPr>
              <a:spcAft>
                <a:spcPts val="800"/>
              </a:spcAft>
              <a:defRPr sz="1600">
                <a:solidFill>
                  <a:srgbClr val="333333"/>
                </a:solidFill>
              </a:defRPr>
            </a:pPr>
            <a:r>
              <a:t>ML models do this with math, thousands of times per second</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3D surface plot (like a mountain landscape) with a ball rolling downhill toward the minimum. Arrow showing the path of gradient descent.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The End-to-End ML Workflow</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Problem Definition → Data Collection → Data Preparation → Modeling → Evaluation → Deployment</a:t>
            </a:r>
          </a:p>
          <a:p>
            <a:pPr>
              <a:spcAft>
                <a:spcPts val="800"/>
              </a:spcAft>
              <a:defRPr sz="1600">
                <a:solidFill>
                  <a:srgbClr val="333333"/>
                </a:solidFill>
              </a:defRPr>
            </a:pPr>
            <a:r>
              <a:t>It's not linear — you loop back constantly</a:t>
            </a:r>
          </a:p>
          <a:p>
            <a:pPr>
              <a:spcAft>
                <a:spcPts val="800"/>
              </a:spcAft>
              <a:defRPr sz="1600">
                <a:solidFill>
                  <a:srgbClr val="333333"/>
                </a:solidFill>
              </a:defRPr>
            </a:pPr>
            <a:r>
              <a:t>Most time spent on data (cleaning, preparing) — not on the model</a:t>
            </a:r>
          </a:p>
          <a:p>
            <a:pPr>
              <a:spcAft>
                <a:spcPts val="800"/>
              </a:spcAft>
              <a:defRPr sz="1600">
                <a:solidFill>
                  <a:srgbClr val="333333"/>
                </a:solidFill>
              </a:defRPr>
            </a:pPr>
            <a:r>
              <a:t>The model is maybe 10-20% of the work</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Circular/iterative workflow diagram with all 6 steps. Arrows going forward AND backward to show the iterative nature. "Data" steps highlighted as the largest portion.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Start with the Right Question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"We want to use AI" is NOT a problem statement</a:t>
            </a:r>
          </a:p>
          <a:p>
            <a:pPr>
              <a:spcAft>
                <a:spcPts val="800"/>
              </a:spcAft>
              <a:defRPr sz="1600">
                <a:solidFill>
                  <a:srgbClr val="333333"/>
                </a:solidFill>
              </a:defRPr>
            </a:pPr>
            <a:r>
              <a:t>Good: "We want to predict which customers will cancel next month"</a:t>
            </a:r>
          </a:p>
          <a:p>
            <a:pPr>
              <a:spcAft>
                <a:spcPts val="800"/>
              </a:spcAft>
              <a:defRPr sz="1600">
                <a:solidFill>
                  <a:srgbClr val="333333"/>
                </a:solidFill>
              </a:defRPr>
            </a:pPr>
            <a:r>
              <a:t>Define: What are you predicting? What data do you have? What does success look like?</a:t>
            </a:r>
          </a:p>
          <a:p>
            <a:pPr>
              <a:spcAft>
                <a:spcPts val="800"/>
              </a:spcAft>
              <a:defRPr sz="1600">
                <a:solidFill>
                  <a:srgbClr val="333333"/>
                </a:solidFill>
              </a:defRPr>
            </a:pPr>
            <a:r>
              <a:t>Bad framing = wasted months of work</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Bad problem statement (vague, crossed out) vs Good problem statement (specific, checkmarked).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Data — The Fuel for ML</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Collection: Where does the data come from? Databases, APIs, sensors, surveys?</a:t>
            </a:r>
          </a:p>
          <a:p>
            <a:pPr>
              <a:spcAft>
                <a:spcPts val="800"/>
              </a:spcAft>
              <a:defRPr sz="1600">
                <a:solidFill>
                  <a:srgbClr val="333333"/>
                </a:solidFill>
              </a:defRPr>
            </a:pPr>
            <a:r>
              <a:t>Preparation: Cleaning missing values, fixing errors, formatting</a:t>
            </a:r>
          </a:p>
          <a:p>
            <a:pPr>
              <a:spcAft>
                <a:spcPts val="800"/>
              </a:spcAft>
              <a:defRPr sz="1600">
                <a:solidFill>
                  <a:srgbClr val="333333"/>
                </a:solidFill>
              </a:defRPr>
            </a:pPr>
            <a:r>
              <a:t>Feature engineering: Creating useful inputs from raw data</a:t>
            </a:r>
          </a:p>
          <a:p>
            <a:pPr>
              <a:spcAft>
                <a:spcPts val="800"/>
              </a:spcAft>
              <a:defRPr sz="1600">
                <a:solidFill>
                  <a:srgbClr val="333333"/>
                </a:solidFill>
              </a:defRPr>
            </a:pPr>
            <a:r>
              <a:t>Reality: This is where 60-80% of project time goes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Funnel diagram: Raw Data (messy) → Cleaning → Feature Engineering → Clean Dataset (structured table).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Build It, Then Prove It Works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Modeling: Choose an algorithm, train it on your data</a:t>
            </a:r>
          </a:p>
          <a:p>
            <a:pPr>
              <a:spcAft>
                <a:spcPts val="800"/>
              </a:spcAft>
              <a:defRPr sz="1600">
                <a:solidFill>
                  <a:srgbClr val="333333"/>
                </a:solidFill>
              </a:defRPr>
            </a:pPr>
            <a:r>
              <a:t>Start simple — a basic model often beats a complex one</a:t>
            </a:r>
          </a:p>
          <a:p>
            <a:pPr>
              <a:spcAft>
                <a:spcPts val="800"/>
              </a:spcAft>
              <a:defRPr sz="1600">
                <a:solidFill>
                  <a:srgbClr val="333333"/>
                </a:solidFill>
              </a:defRPr>
            </a:pPr>
            <a:r>
              <a:t>Evaluation: How do you measure success?</a:t>
            </a:r>
          </a:p>
          <a:p>
            <a:pPr>
              <a:spcAft>
                <a:spcPts val="800"/>
              </a:spcAft>
              <a:defRPr sz="1600">
                <a:solidFill>
                  <a:srgbClr val="333333"/>
                </a:solidFill>
              </a:defRPr>
            </a:pPr>
            <a:r>
              <a:t>Accuracy, precision, recall, F1 score (we'll learn these in Module 4)</a:t>
            </a:r>
          </a:p>
          <a:p>
            <a:pPr>
              <a:spcAft>
                <a:spcPts val="800"/>
              </a:spcAft>
              <a:defRPr sz="1600">
                <a:solidFill>
                  <a:srgbClr val="333333"/>
                </a:solidFill>
              </a:defRPr>
            </a:pPr>
            <a:r>
              <a:t>Key rule: Always test on data the model has never seen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Split: Training data going into model (left), Test data being used for evaluation with a score card (right). Wall between them labeled "Never mix these."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 Model in a Notebook Is Useless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Deployment: Put the model into a real system where it makes predictions</a:t>
            </a:r>
          </a:p>
          <a:p>
            <a:pPr>
              <a:spcAft>
                <a:spcPts val="800"/>
              </a:spcAft>
              <a:defRPr sz="1600">
                <a:solidFill>
                  <a:srgbClr val="333333"/>
                </a:solidFill>
              </a:defRPr>
            </a:pPr>
            <a:r>
              <a:t>The model needs to work in real-time, not just on your laptop</a:t>
            </a:r>
          </a:p>
          <a:p>
            <a:pPr>
              <a:spcAft>
                <a:spcPts val="800"/>
              </a:spcAft>
              <a:defRPr sz="1600">
                <a:solidFill>
                  <a:srgbClr val="333333"/>
                </a:solidFill>
              </a:defRPr>
            </a:pPr>
            <a:r>
              <a:t>Monitoring: Models degrade over time — data changes, patterns shift</a:t>
            </a:r>
          </a:p>
          <a:p>
            <a:pPr>
              <a:spcAft>
                <a:spcPts val="800"/>
              </a:spcAft>
              <a:defRPr sz="1600">
                <a:solidFill>
                  <a:srgbClr val="333333"/>
                </a:solidFill>
              </a:defRPr>
            </a:pPr>
            <a:r>
              <a:t>You need to retrain and update regularly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Laptop with notebook → Arrow → Cloud/server → Arrow → Mobile app/dashboard showing predictions. Monitoring loop underneath.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ML Workflow Applied: Telecom Churn Prediction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Problem: Predict which subscribers will cancel next month</a:t>
            </a:r>
          </a:p>
          <a:p>
            <a:pPr>
              <a:spcAft>
                <a:spcPts val="800"/>
              </a:spcAft>
              <a:defRPr sz="1600">
                <a:solidFill>
                  <a:srgbClr val="333333"/>
                </a:solidFill>
              </a:defRPr>
            </a:pPr>
            <a:r>
              <a:t>Data: Call records, billing history, complaints, plan type</a:t>
            </a:r>
          </a:p>
          <a:p>
            <a:pPr>
              <a:spcAft>
                <a:spcPts val="800"/>
              </a:spcAft>
              <a:defRPr sz="1600">
                <a:solidFill>
                  <a:srgbClr val="333333"/>
                </a:solidFill>
              </a:defRPr>
            </a:pPr>
            <a:r>
              <a:t>Preparation: Clean missing values, create features like "days since last complaint"</a:t>
            </a:r>
          </a:p>
          <a:p>
            <a:pPr>
              <a:spcAft>
                <a:spcPts val="800"/>
              </a:spcAft>
              <a:defRPr sz="1600">
                <a:solidFill>
                  <a:srgbClr val="333333"/>
                </a:solidFill>
              </a:defRPr>
            </a:pPr>
            <a:r>
              <a:t>Model: Train classification model (supervised learning)</a:t>
            </a:r>
          </a:p>
          <a:p>
            <a:pPr>
              <a:spcAft>
                <a:spcPts val="800"/>
              </a:spcAft>
              <a:defRPr sz="1600">
                <a:solidFill>
                  <a:srgbClr val="333333"/>
                </a:solidFill>
              </a:defRPr>
            </a:pPr>
            <a:r>
              <a:t>Evaluate: Test on last month's actual churners</a:t>
            </a:r>
          </a:p>
          <a:p>
            <a:pPr>
              <a:spcAft>
                <a:spcPts val="800"/>
              </a:spcAft>
              <a:defRPr sz="1600">
                <a:solidFill>
                  <a:srgbClr val="333333"/>
                </a:solidFill>
              </a:defRPr>
            </a:pPr>
            <a:r>
              <a:t>Deploy: Flag at-risk customers for the retention team</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The workflow diagram from Slide 8, but each step now filled in with the churn example specifics.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Your Turn: Frame an ML Problem</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Think about: What would you predict? Where would the data come from?</a:t>
            </a:r>
          </a:p>
          <a:p>
            <a:pPr>
              <a:spcAft>
                <a:spcPts val="800"/>
              </a:spcAft>
              <a:defRPr sz="1600">
                <a:solidFill>
                  <a:srgbClr val="333333"/>
                </a:solidFill>
              </a:defRPr>
            </a:pPr>
            <a:r>
              <a:t>3 minutes with your neighbor, then share</a:t>
            </a:r>
          </a:p>
          <a:p>
            <a:pPr>
              <a:spcAft>
                <a:spcPts val="800"/>
              </a:spcAft>
              <a:defRPr sz="1600">
                <a:solidFill>
                  <a:srgbClr val="333333"/>
                </a:solidFill>
              </a:defRPr>
            </a:pPr>
            <a:r>
              <a:t>No wrong answers — we're practicing the thinking process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Thought bubble icons with local business logos (bazaar, bank, university).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Probability and statistics give ML its foundation — intuition over formulas</a:t>
            </a:r>
          </a:p>
          <a:p>
            <a:pPr>
              <a:spcAft>
                <a:spcPts val="800"/>
              </a:spcAft>
              <a:defRPr sz="1600">
                <a:solidFill>
                  <a:srgbClr val="333333"/>
                </a:solidFill>
              </a:defRPr>
            </a:pPr>
            <a:r>
              <a:t>Gradient descent: models learn by walking downhill on the error landscape</a:t>
            </a:r>
          </a:p>
          <a:p>
            <a:pPr>
              <a:spcAft>
                <a:spcPts val="800"/>
              </a:spcAft>
              <a:defRPr sz="1600">
                <a:solidFill>
                  <a:srgbClr val="333333"/>
                </a:solidFill>
              </a:defRPr>
            </a:pPr>
            <a:r>
              <a:t>The ML workflow: Problem → Data → Preparation → Model → Evaluate → Deploy</a:t>
            </a:r>
          </a:p>
          <a:p>
            <a:pPr>
              <a:spcAft>
                <a:spcPts val="800"/>
              </a:spcAft>
              <a:defRPr sz="1600">
                <a:solidFill>
                  <a:srgbClr val="333333"/>
                </a:solidFill>
              </a:defRPr>
            </a:pPr>
            <a:r>
              <a:t>Most time is spent on data, not models</a:t>
            </a:r>
          </a:p>
          <a:p>
            <a:pPr>
              <a:spcAft>
                <a:spcPts val="800"/>
              </a:spcAft>
              <a:defRPr sz="1600">
                <a:solidFill>
                  <a:srgbClr val="333333"/>
                </a:solidFill>
              </a:defRPr>
            </a:pPr>
            <a:r>
              <a:t>Next class: Real-world ITES applications deep-dive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Recap slide with workflow diagram thumbnail and key stats icons.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Next Class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Review the ML workflow steps — be able to list them from memory</a:t>
            </a:r>
          </a:p>
          <a:p>
            <a:pPr>
              <a:spcAft>
                <a:spcPts val="800"/>
              </a:spcAft>
              <a:defRPr sz="1600">
                <a:solidFill>
                  <a:srgbClr val="333333"/>
                </a:solidFill>
              </a:defRPr>
            </a:pPr>
            <a:r>
              <a:t>Read the assigned article on ML in telecom/ITES</a:t>
            </a:r>
          </a:p>
          <a:p>
            <a:pPr>
              <a:spcAft>
                <a:spcPts val="800"/>
              </a:spcAft>
              <a:defRPr sz="1600">
                <a:solidFill>
                  <a:srgbClr val="333333"/>
                </a:solidFill>
              </a:defRPr>
            </a:pPr>
            <a:r>
              <a:t>Start thinking about Activity 3: What data would you need for churn prediction?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Checklist format. ---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3: ITES Applications Deep-Dive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AI/ML in the Real World — ITES Applications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1, Class 3</a:t>
            </a:r>
          </a:p>
          <a:p>
            <a:pPr>
              <a:spcAft>
                <a:spcPts val="800"/>
              </a:spcAft>
              <a:defRPr sz="1600">
                <a:solidFill>
                  <a:srgbClr val="333333"/>
                </a:solidFill>
              </a:defRPr>
            </a:pPr>
            <a:r>
              <a:t>Four case studies: Recommendations, Fraud Detection, Chatbots, Churn Prediction</a:t>
            </a:r>
          </a:p>
          <a:p>
            <a:pPr>
              <a:spcAft>
                <a:spcPts val="800"/>
              </a:spcAft>
              <a:defRPr sz="1600">
                <a:solidFill>
                  <a:srgbClr val="333333"/>
                </a:solidFill>
              </a:defRPr>
            </a:pPr>
            <a:r>
              <a:t>How it works, why it matters, what can go wrong</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Four icons in a grid: shopping cart (recommendations), shield (fraud), chat bubble (chatbots), broken chain (churn).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How Netflix, YouTube, and Uzum Know What You Want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How it works: Collaborative filtering — "users like you also liked..."</a:t>
            </a:r>
          </a:p>
          <a:p>
            <a:pPr>
              <a:spcAft>
                <a:spcPts val="800"/>
              </a:spcAft>
              <a:defRPr sz="1600">
                <a:solidFill>
                  <a:srgbClr val="333333"/>
                </a:solidFill>
              </a:defRPr>
            </a:pPr>
            <a:r>
              <a:t>Content-based filtering — "because you watched/bought this..."</a:t>
            </a:r>
          </a:p>
          <a:p>
            <a:pPr>
              <a:spcAft>
                <a:spcPts val="800"/>
              </a:spcAft>
              <a:defRPr sz="1600">
                <a:solidFill>
                  <a:srgbClr val="333333"/>
                </a:solidFill>
              </a:defRPr>
            </a:pPr>
            <a:r>
              <a:t>Hybrid approaches combine both</a:t>
            </a:r>
          </a:p>
          <a:p>
            <a:pPr>
              <a:spcAft>
                <a:spcPts val="800"/>
              </a:spcAft>
              <a:defRPr sz="1600">
                <a:solidFill>
                  <a:srgbClr val="333333"/>
                </a:solidFill>
              </a:defRPr>
            </a:pPr>
            <a:r>
              <a:t>Uses: E-commerce, streaming, news feeds, music</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Diagram showing two paths: User → Similar Users → Their Products (collaborative) and User → Their Products → Similar Products (content-based). Both paths merge.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Recommendations — Business Impact and Challenges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Why it matters: Amazon — 35% of revenue from recommendations. Netflix — saves $1B/year in retention</a:t>
            </a:r>
          </a:p>
          <a:p>
            <a:pPr>
              <a:spcAft>
                <a:spcPts val="800"/>
              </a:spcAft>
              <a:defRPr sz="1600">
                <a:solidFill>
                  <a:srgbClr val="333333"/>
                </a:solidFill>
              </a:defRPr>
            </a:pPr>
            <a:r>
              <a:t>Uzbekistan angle: Uzum, Korzinka Go, local streaming platforms</a:t>
            </a:r>
          </a:p>
          <a:p>
            <a:pPr>
              <a:spcAft>
                <a:spcPts val="800"/>
              </a:spcAft>
              <a:defRPr sz="1600">
                <a:solidFill>
                  <a:srgbClr val="333333"/>
                </a:solidFill>
              </a:defRPr>
            </a:pPr>
            <a:r>
              <a:t>Challenges:</a:t>
            </a:r>
          </a:p>
          <a:p>
            <a:pPr>
              <a:spcAft>
                <a:spcPts val="800"/>
              </a:spcAft>
              <a:defRPr sz="1600">
                <a:solidFill>
                  <a:srgbClr val="333333"/>
                </a:solidFill>
              </a:defRPr>
            </a:pPr>
            <a:r>
              <a:t>Cold start problem — new users have no history</a:t>
            </a:r>
          </a:p>
          <a:p>
            <a:pPr>
              <a:spcAft>
                <a:spcPts val="800"/>
              </a:spcAft>
              <a:defRPr sz="1600">
                <a:solidFill>
                  <a:srgbClr val="333333"/>
                </a:solidFill>
              </a:defRPr>
            </a:pPr>
            <a:r>
              <a:t>Filter bubbles — users only see what they already like</a:t>
            </a:r>
          </a:p>
          <a:p>
            <a:pPr>
              <a:spcAft>
                <a:spcPts val="800"/>
              </a:spcAft>
              <a:defRPr sz="1600">
                <a:solidFill>
                  <a:srgbClr val="333333"/>
                </a:solidFill>
              </a:defRPr>
            </a:pPr>
            <a:r>
              <a:t>Data sparsity — most users interact with a tiny fraction of products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Revenue impact stat callouts. Challenge cards below.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Catching Criminals with Machine Learning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How it works: Model learns patterns of normal transactions</a:t>
            </a:r>
          </a:p>
          <a:p>
            <a:pPr>
              <a:spcAft>
                <a:spcPts val="800"/>
              </a:spcAft>
              <a:defRPr sz="1600">
                <a:solidFill>
                  <a:srgbClr val="333333"/>
                </a:solidFill>
              </a:defRPr>
            </a:pPr>
            <a:r>
              <a:t>Flags transactions that deviate significantly — anomaly detection</a:t>
            </a:r>
          </a:p>
          <a:p>
            <a:pPr>
              <a:spcAft>
                <a:spcPts val="800"/>
              </a:spcAft>
              <a:defRPr sz="1600">
                <a:solidFill>
                  <a:srgbClr val="333333"/>
                </a:solidFill>
              </a:defRPr>
            </a:pPr>
            <a:r>
              <a:t>Can also use supervised learning if you have labeled fraud data</a:t>
            </a:r>
          </a:p>
          <a:p>
            <a:pPr>
              <a:spcAft>
                <a:spcPts val="800"/>
              </a:spcAft>
              <a:defRPr sz="1600">
                <a:solidFill>
                  <a:srgbClr val="333333"/>
                </a:solidFill>
              </a:defRPr>
            </a:pPr>
            <a:r>
              <a:t>Real-time decisions needed — milliseconds to approve or block</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Transaction flow diagram: Customer swipes card → ML model checks in milliseconds → Approve or Flag.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Fraud Detection — Business Impact and Challenges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Why it matters: Global card fraud exceeded $30B in 2023</a:t>
            </a:r>
          </a:p>
          <a:p>
            <a:pPr>
              <a:spcAft>
                <a:spcPts val="800"/>
              </a:spcAft>
              <a:defRPr sz="1600">
                <a:solidFill>
                  <a:srgbClr val="333333"/>
                </a:solidFill>
              </a:defRPr>
            </a:pPr>
            <a:r>
              <a:t>Uzbekistan angle: Growing digital payments (Payme, Click, Uzum Bank)</a:t>
            </a:r>
          </a:p>
          <a:p>
            <a:pPr>
              <a:spcAft>
                <a:spcPts val="800"/>
              </a:spcAft>
              <a:defRPr sz="1600">
                <a:solidFill>
                  <a:srgbClr val="333333"/>
                </a:solidFill>
              </a:defRPr>
            </a:pPr>
            <a:r>
              <a:t>Challenges:</a:t>
            </a:r>
          </a:p>
          <a:p>
            <a:pPr>
              <a:spcAft>
                <a:spcPts val="800"/>
              </a:spcAft>
              <a:defRPr sz="1600">
                <a:solidFill>
                  <a:srgbClr val="333333"/>
                </a:solidFill>
              </a:defRPr>
            </a:pPr>
            <a:r>
              <a:t>Class imbalance — fraud is rare (0.1% of transactions), hard to learn from</a:t>
            </a:r>
          </a:p>
          <a:p>
            <a:pPr>
              <a:spcAft>
                <a:spcPts val="800"/>
              </a:spcAft>
              <a:defRPr sz="1600">
                <a:solidFill>
                  <a:srgbClr val="333333"/>
                </a:solidFill>
              </a:defRPr>
            </a:pPr>
            <a:r>
              <a:t>False positives — blocking legitimate transactions frustrates customers</a:t>
            </a:r>
          </a:p>
          <a:p>
            <a:pPr>
              <a:spcAft>
                <a:spcPts val="800"/>
              </a:spcAft>
              <a:defRPr sz="1600">
                <a:solidFill>
                  <a:srgbClr val="333333"/>
                </a:solidFill>
              </a:defRPr>
            </a:pPr>
            <a:r>
              <a:t>Adversarial attacks — fraudsters adapt to detection methods</a:t>
            </a:r>
          </a:p>
          <a:p>
            <a:pPr>
              <a:spcAft>
                <a:spcPts val="800"/>
              </a:spcAft>
              <a:defRPr sz="1600">
                <a:solidFill>
                  <a:srgbClr val="333333"/>
                </a:solidFill>
              </a:defRPr>
            </a:pPr>
            <a:r>
              <a:t>Privacy — models need access to sensitive financial data</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Scales showing imbalance: huge pile of normal transactions vs tiny pile of fraud. Adaptation cycle: fraud detected → fraudster adapts → new fraud pattern.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Chatbots — Automating Customer Support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How it works: NLP (Natural Language Processing) to understand user intent</a:t>
            </a:r>
          </a:p>
          <a:p>
            <a:pPr>
              <a:spcAft>
                <a:spcPts val="800"/>
              </a:spcAft>
              <a:defRPr sz="1600">
                <a:solidFill>
                  <a:srgbClr val="333333"/>
                </a:solidFill>
              </a:defRPr>
            </a:pPr>
            <a:r>
              <a:t>Match intent to a predefined answer or generate a response</a:t>
            </a:r>
          </a:p>
          <a:p>
            <a:pPr>
              <a:spcAft>
                <a:spcPts val="800"/>
              </a:spcAft>
              <a:defRPr sz="1600">
                <a:solidFill>
                  <a:srgbClr val="333333"/>
                </a:solidFill>
              </a:defRPr>
            </a:pPr>
            <a:r>
              <a:t>Simple chatbots: Rule-based decision trees</a:t>
            </a:r>
          </a:p>
          <a:p>
            <a:pPr>
              <a:spcAft>
                <a:spcPts val="800"/>
              </a:spcAft>
              <a:defRPr sz="1600">
                <a:solidFill>
                  <a:srgbClr val="333333"/>
                </a:solidFill>
              </a:defRPr>
            </a:pPr>
            <a:r>
              <a:t>Advanced chatbots: LLMs (like ChatGPT) for open-ended conversation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Chat interface mockup showing a customer asking a question in Uzbek and the bot responding. Behind the interface: NLP pipeline (text → intent recognition → response selection).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Chatbots — Business Impact and Challenges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Why it matters: 24/7 availability, handles 60-80% of routine queries, reduces cost per interaction</a:t>
            </a:r>
          </a:p>
          <a:p>
            <a:pPr>
              <a:spcAft>
                <a:spcPts val="800"/>
              </a:spcAft>
              <a:defRPr sz="1600">
                <a:solidFill>
                  <a:srgbClr val="333333"/>
                </a:solidFill>
              </a:defRPr>
            </a:pPr>
            <a:r>
              <a:t>Uzbekistan angle: Uztelecom AI chatbot, banking bots, government e-services</a:t>
            </a:r>
          </a:p>
          <a:p>
            <a:pPr>
              <a:spcAft>
                <a:spcPts val="800"/>
              </a:spcAft>
              <a:defRPr sz="1600">
                <a:solidFill>
                  <a:srgbClr val="333333"/>
                </a:solidFill>
              </a:defRPr>
            </a:pPr>
            <a:r>
              <a:t>Challenges:</a:t>
            </a:r>
          </a:p>
          <a:p>
            <a:pPr>
              <a:spcAft>
                <a:spcPts val="800"/>
              </a:spcAft>
              <a:defRPr sz="1600">
                <a:solidFill>
                  <a:srgbClr val="333333"/>
                </a:solidFill>
              </a:defRPr>
            </a:pPr>
            <a:r>
              <a:t>Understanding Uzbek language (Latin + Cyrillic, code-switching)</a:t>
            </a:r>
          </a:p>
          <a:p>
            <a:pPr>
              <a:spcAft>
                <a:spcPts val="800"/>
              </a:spcAft>
              <a:defRPr sz="1600">
                <a:solidFill>
                  <a:srgbClr val="333333"/>
                </a:solidFill>
              </a:defRPr>
            </a:pPr>
            <a:r>
              <a:t>Handling ambiguous or emotional customer messages</a:t>
            </a:r>
          </a:p>
          <a:p>
            <a:pPr>
              <a:spcAft>
                <a:spcPts val="800"/>
              </a:spcAft>
              <a:defRPr sz="1600">
                <a:solidFill>
                  <a:srgbClr val="333333"/>
                </a:solidFill>
              </a:defRPr>
            </a:pPr>
            <a:r>
              <a:t>Knowing when to escalate to a human agent</a:t>
            </a:r>
          </a:p>
          <a:p>
            <a:pPr>
              <a:spcAft>
                <a:spcPts val="800"/>
              </a:spcAft>
              <a:defRPr sz="1600">
                <a:solidFill>
                  <a:srgbClr val="333333"/>
                </a:solidFill>
              </a:defRPr>
            </a:pPr>
            <a:r>
              <a:t>Maintaining accuracy — wrong answers erode trust fast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Impact stats (queries handled, cost reduction). Challenge cards with Uzbek language examples.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Predicting Customer Churn — Before They Leave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How it works: Supervised classification — will this customer churn (yes/no)?</a:t>
            </a:r>
          </a:p>
          <a:p>
            <a:pPr>
              <a:spcAft>
                <a:spcPts val="800"/>
              </a:spcAft>
              <a:defRPr sz="1600">
                <a:solidFill>
                  <a:srgbClr val="333333"/>
                </a:solidFill>
              </a:defRPr>
            </a:pPr>
            <a:r>
              <a:t>Features: Usage trends, billing patterns, complaint history, tenure</a:t>
            </a:r>
          </a:p>
          <a:p>
            <a:pPr>
              <a:spcAft>
                <a:spcPts val="800"/>
              </a:spcAft>
              <a:defRPr sz="1600">
                <a:solidFill>
                  <a:srgbClr val="333333"/>
                </a:solidFill>
              </a:defRPr>
            </a:pPr>
            <a:r>
              <a:t>Model assigns a churn probability to each customer</a:t>
            </a:r>
          </a:p>
          <a:p>
            <a:pPr>
              <a:spcAft>
                <a:spcPts val="800"/>
              </a:spcAft>
              <a:defRPr sz="1600">
                <a:solidFill>
                  <a:srgbClr val="333333"/>
                </a:solidFill>
              </a:defRPr>
            </a:pPr>
            <a:r>
              <a:t>Business action: Proactive retention offers to high-risk customers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Customer journey diagram: Active → Warning signals (declining usage, complaints) → Churn risk score → Retention intervention.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Churn Prediction — Business Impact and Challenges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Why it matters: Acquiring a new customer costs 5-7x more than retaining one</a:t>
            </a:r>
          </a:p>
          <a:p>
            <a:pPr>
              <a:spcAft>
                <a:spcPts val="800"/>
              </a:spcAft>
              <a:defRPr sz="1600">
                <a:solidFill>
                  <a:srgbClr val="333333"/>
                </a:solidFill>
              </a:defRPr>
            </a:pPr>
            <a:r>
              <a:t>Uzbekistan angle: Uztelecom, Beeline, Ucell — competitive telecom market</a:t>
            </a:r>
          </a:p>
          <a:p>
            <a:pPr>
              <a:spcAft>
                <a:spcPts val="800"/>
              </a:spcAft>
              <a:defRPr sz="1600">
                <a:solidFill>
                  <a:srgbClr val="333333"/>
                </a:solidFill>
              </a:defRPr>
            </a:pPr>
            <a:r>
              <a:t>Challenges:</a:t>
            </a:r>
          </a:p>
          <a:p>
            <a:pPr>
              <a:spcAft>
                <a:spcPts val="800"/>
              </a:spcAft>
              <a:defRPr sz="1600">
                <a:solidFill>
                  <a:srgbClr val="333333"/>
                </a:solidFill>
              </a:defRPr>
            </a:pPr>
            <a:r>
              <a:t>Defining "churn" — canceled? Inactive for 30 days? Reduced usage?</a:t>
            </a:r>
          </a:p>
          <a:p>
            <a:pPr>
              <a:spcAft>
                <a:spcPts val="800"/>
              </a:spcAft>
              <a:defRPr sz="1600">
                <a:solidFill>
                  <a:srgbClr val="333333"/>
                </a:solidFill>
              </a:defRPr>
            </a:pPr>
            <a:r>
              <a:t>Data quality — customer records often incomplete or messy</a:t>
            </a:r>
          </a:p>
          <a:p>
            <a:pPr>
              <a:spcAft>
                <a:spcPts val="800"/>
              </a:spcAft>
              <a:defRPr sz="1600">
                <a:solidFill>
                  <a:srgbClr val="333333"/>
                </a:solidFill>
              </a:defRPr>
            </a:pPr>
            <a:r>
              <a:t>Actionability — prediction is useless without a retention strategy</a:t>
            </a:r>
          </a:p>
          <a:p>
            <a:pPr>
              <a:spcAft>
                <a:spcPts val="800"/>
              </a:spcAft>
              <a:defRPr sz="1600">
                <a:solidFill>
                  <a:srgbClr val="333333"/>
                </a:solidFill>
              </a:defRPr>
            </a:pPr>
            <a:r>
              <a:t>Model fairness — don't discriminate against certain customer groups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Cost comparison: retention ($1) vs acquisition ($5-7). Decision tree for churn definition.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Activity 2: Pick a Case Study, Go Deeper</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Form 4 groups — each group gets one case study</a:t>
            </a:r>
          </a:p>
          <a:p>
            <a:pPr>
              <a:spcAft>
                <a:spcPts val="800"/>
              </a:spcAft>
              <a:defRPr sz="1600">
                <a:solidFill>
                  <a:srgbClr val="333333"/>
                </a:solidFill>
              </a:defRPr>
            </a:pPr>
            <a:r>
              <a:t>For your case study, discuss:</a:t>
            </a:r>
          </a:p>
          <a:p>
            <a:pPr>
              <a:spcAft>
                <a:spcPts val="800"/>
              </a:spcAft>
              <a:defRPr sz="1600">
                <a:solidFill>
                  <a:srgbClr val="333333"/>
                </a:solidFill>
              </a:defRPr>
            </a:pPr>
            <a:r>
              <a:t>8 minutes discussion, 3 minutes per group to present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Group activity instruction card with the four questions.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All Four Case Studies Have in Common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All need quality data — garbage in, garbage out</a:t>
            </a:r>
          </a:p>
          <a:p>
            <a:pPr>
              <a:spcAft>
                <a:spcPts val="800"/>
              </a:spcAft>
              <a:defRPr sz="1600">
                <a:solidFill>
                  <a:srgbClr val="333333"/>
                </a:solidFill>
              </a:defRPr>
            </a:pPr>
            <a:r>
              <a:t>All require careful problem framing before modeling</a:t>
            </a:r>
          </a:p>
          <a:p>
            <a:pPr>
              <a:spcAft>
                <a:spcPts val="800"/>
              </a:spcAft>
              <a:defRPr sz="1600">
                <a:solidFill>
                  <a:srgbClr val="333333"/>
                </a:solidFill>
              </a:defRPr>
            </a:pPr>
            <a:r>
              <a:t>All have ethical implications (privacy, fairness, transparency)</a:t>
            </a:r>
          </a:p>
          <a:p>
            <a:pPr>
              <a:spcAft>
                <a:spcPts val="800"/>
              </a:spcAft>
              <a:defRPr sz="1600">
                <a:solidFill>
                  <a:srgbClr val="333333"/>
                </a:solidFill>
              </a:defRPr>
            </a:pPr>
            <a:r>
              <a:t>All need human oversight — ML assists decisions, doesn't replace judgment</a:t>
            </a:r>
          </a:p>
          <a:p>
            <a:pPr>
              <a:spcAft>
                <a:spcPts val="800"/>
              </a:spcAft>
              <a:defRPr sz="1600">
                <a:solidFill>
                  <a:srgbClr val="333333"/>
                </a:solidFill>
              </a:defRPr>
            </a:pPr>
            <a:r>
              <a:t>All benefit from domain knowledge — knowing the business matters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Central node "ML Applications" with five spokes: Data Quality, Problem Framing, Ethics, Human Oversight, Domain Knowledge.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Four major ITES applications: recommendations, fraud, chatbots, churn</a:t>
            </a:r>
          </a:p>
          <a:p>
            <a:pPr>
              <a:spcAft>
                <a:spcPts val="800"/>
              </a:spcAft>
              <a:defRPr sz="1600">
                <a:solidFill>
                  <a:srgbClr val="333333"/>
                </a:solidFill>
              </a:defRPr>
            </a:pPr>
            <a:r>
              <a:t>Each has a clear business case AND real challenges</a:t>
            </a:r>
          </a:p>
          <a:p>
            <a:pPr>
              <a:spcAft>
                <a:spcPts val="800"/>
              </a:spcAft>
              <a:defRPr sz="1600">
                <a:solidFill>
                  <a:srgbClr val="333333"/>
                </a:solidFill>
              </a:defRPr>
            </a:pPr>
            <a:r>
              <a:t>ML in Uzbekistan is growing — these applications are already here</a:t>
            </a:r>
          </a:p>
          <a:p>
            <a:pPr>
              <a:spcAft>
                <a:spcPts val="800"/>
              </a:spcAft>
              <a:defRPr sz="1600">
                <a:solidFill>
                  <a:srgbClr val="333333"/>
                </a:solidFill>
              </a:defRPr>
            </a:pPr>
            <a:r>
              <a:t>The "how it works" matters less than "what can go wrong"</a:t>
            </a:r>
          </a:p>
          <a:p>
            <a:pPr>
              <a:spcAft>
                <a:spcPts val="800"/>
              </a:spcAft>
              <a:defRPr sz="1600">
                <a:solidFill>
                  <a:srgbClr val="333333"/>
                </a:solidFill>
              </a:defRPr>
            </a:pPr>
            <a:r>
              <a:t>Next class: Ethics in AI — bias, fairness, and privacy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Four case study icons with checkmarks. Arrow to "Next: Ethics."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Next Class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Pick one of the four case studies and write a one-page summary:</a:t>
            </a:r>
          </a:p>
          <a:p>
            <a:pPr>
              <a:spcAft>
                <a:spcPts val="800"/>
              </a:spcAft>
              <a:defRPr sz="1600">
                <a:solidFill>
                  <a:srgbClr val="333333"/>
                </a:solidFill>
              </a:defRPr>
            </a:pPr>
            <a:r>
              <a:t>How it works (your own words)</a:t>
            </a:r>
          </a:p>
          <a:p>
            <a:pPr>
              <a:spcAft>
                <a:spcPts val="800"/>
              </a:spcAft>
              <a:defRPr sz="1600">
                <a:solidFill>
                  <a:srgbClr val="333333"/>
                </a:solidFill>
              </a:defRPr>
            </a:pPr>
            <a:r>
              <a:t>One Uzbekistan application</a:t>
            </a:r>
          </a:p>
          <a:p>
            <a:pPr>
              <a:spcAft>
                <a:spcPts val="800"/>
              </a:spcAft>
              <a:defRPr sz="1600">
                <a:solidFill>
                  <a:srgbClr val="333333"/>
                </a:solidFill>
              </a:defRPr>
            </a:pPr>
            <a:r>
              <a:t>Two potential risks</a:t>
            </a:r>
          </a:p>
          <a:p>
            <a:pPr>
              <a:spcAft>
                <a:spcPts val="800"/>
              </a:spcAft>
              <a:defRPr sz="1600">
                <a:solidFill>
                  <a:srgbClr val="333333"/>
                </a:solidFill>
              </a:defRPr>
            </a:pPr>
            <a:r>
              <a:t>Read the assigned article on AI ethics (linked)</a:t>
            </a:r>
          </a:p>
          <a:p>
            <a:pPr>
              <a:spcAft>
                <a:spcPts val="800"/>
              </a:spcAft>
              <a:defRPr sz="1600">
                <a:solidFill>
                  <a:srgbClr val="333333"/>
                </a:solidFill>
              </a:defRPr>
            </a:pPr>
            <a:r>
              <a:t>Come ready to discuss: "Should AI make decisions about people?"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Checklist with reading link. ---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4: Ethics in AI — Case Study Discussion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Ethics in AI — Bias, Fairness, and Privacy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1, Class 4</a:t>
            </a:r>
          </a:p>
          <a:p>
            <a:pPr>
              <a:spcAft>
                <a:spcPts val="800"/>
              </a:spcAft>
              <a:defRPr sz="1600">
                <a:solidFill>
                  <a:srgbClr val="333333"/>
                </a:solidFill>
              </a:defRPr>
            </a:pPr>
            <a:r>
              <a:t>No right answers today — just important questions</a:t>
            </a:r>
          </a:p>
          <a:p>
            <a:pPr>
              <a:spcAft>
                <a:spcPts val="800"/>
              </a:spcAft>
              <a:defRPr sz="1600">
                <a:solidFill>
                  <a:srgbClr val="333333"/>
                </a:solidFill>
              </a:defRPr>
            </a:pPr>
            <a:r>
              <a:t>Interactive session: case studies and group discussion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with scales of justice + AI circuit brain icon.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The Power to Help or Harm</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AI systems make decisions affecting millions of people</a:t>
            </a:r>
          </a:p>
          <a:p>
            <a:pPr>
              <a:spcAft>
                <a:spcPts val="800"/>
              </a:spcAft>
              <a:defRPr sz="1600">
                <a:solidFill>
                  <a:srgbClr val="333333"/>
                </a:solidFill>
              </a:defRPr>
            </a:pPr>
            <a:r>
              <a:t>Hiring algorithms, loan approvals, criminal sentencing, medical diagnosis</a:t>
            </a:r>
          </a:p>
          <a:p>
            <a:pPr>
              <a:spcAft>
                <a:spcPts val="800"/>
              </a:spcAft>
              <a:defRPr sz="1600">
                <a:solidFill>
                  <a:srgbClr val="333333"/>
                </a:solidFill>
              </a:defRPr>
            </a:pPr>
            <a:r>
              <a:t>These systems can amplify existing inequalities</a:t>
            </a:r>
          </a:p>
          <a:p>
            <a:pPr>
              <a:spcAft>
                <a:spcPts val="800"/>
              </a:spcAft>
              <a:defRPr sz="1600">
                <a:solidFill>
                  <a:srgbClr val="333333"/>
                </a:solidFill>
              </a:defRPr>
            </a:pPr>
            <a:r>
              <a:t>"Move fast and break things" doesn't work when you're breaking people's lives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Gradient of impact: Low stakes (spam filter, recommendations) → High stakes (hiring, loans, criminal justice, healthcare). Color shifts from green to red.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AI Bias — It Starts with Us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Data bias: Training data reflects historical discrimination</a:t>
            </a:r>
          </a:p>
          <a:p>
            <a:pPr>
              <a:spcAft>
                <a:spcPts val="800"/>
              </a:spcAft>
              <a:defRPr sz="1600">
                <a:solidFill>
                  <a:srgbClr val="333333"/>
                </a:solidFill>
              </a:defRPr>
            </a:pPr>
            <a:r>
              <a:t>Selection bias: Data doesn't represent the full population</a:t>
            </a:r>
          </a:p>
          <a:p>
            <a:pPr>
              <a:spcAft>
                <a:spcPts val="800"/>
              </a:spcAft>
              <a:defRPr sz="1600">
                <a:solidFill>
                  <a:srgbClr val="333333"/>
                </a:solidFill>
              </a:defRPr>
            </a:pPr>
            <a:r>
              <a:t>Measurement bias: What we measure isn't what we think we're measuring</a:t>
            </a:r>
          </a:p>
          <a:p>
            <a:pPr>
              <a:spcAft>
                <a:spcPts val="800"/>
              </a:spcAft>
              <a:defRPr sz="1600">
                <a:solidFill>
                  <a:srgbClr val="333333"/>
                </a:solidFill>
              </a:defRPr>
            </a:pPr>
            <a:r>
              <a:t>Algorithmic bias: Model design choices favor certain outcomes</a:t>
            </a:r>
          </a:p>
          <a:p>
            <a:pPr>
              <a:spcAft>
                <a:spcPts val="800"/>
              </a:spcAft>
              <a:defRPr sz="1600">
                <a:solidFill>
                  <a:srgbClr val="333333"/>
                </a:solidFill>
              </a:defRPr>
            </a:pPr>
            <a:r>
              <a:t>AI doesn't create bias — it inherits and amplifies it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Pipeline diagram: Biased World → Biased Data → Biased Model → Biased Decisions → Reinforces Biased World (cycle).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Case Study — Amazon's Resume Screening Tool</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Amazon built an AI to screen job applicants</a:t>
            </a:r>
          </a:p>
          <a:p>
            <a:pPr>
              <a:spcAft>
                <a:spcPts val="800"/>
              </a:spcAft>
              <a:defRPr sz="1600">
                <a:solidFill>
                  <a:srgbClr val="333333"/>
                </a:solidFill>
              </a:defRPr>
            </a:pPr>
            <a:r>
              <a:t>Trained on 10 years of hiring data — mostly male hires in tech</a:t>
            </a:r>
          </a:p>
          <a:p>
            <a:pPr>
              <a:spcAft>
                <a:spcPts val="800"/>
              </a:spcAft>
              <a:defRPr sz="1600">
                <a:solidFill>
                  <a:srgbClr val="333333"/>
                </a:solidFill>
              </a:defRPr>
            </a:pPr>
            <a:r>
              <a:t>Model learned to penalize resumes containing the word "women's"</a:t>
            </a:r>
          </a:p>
          <a:p>
            <a:pPr>
              <a:spcAft>
                <a:spcPts val="800"/>
              </a:spcAft>
              <a:defRPr sz="1600">
                <a:solidFill>
                  <a:srgbClr val="333333"/>
                </a:solidFill>
              </a:defRPr>
            </a:pPr>
            <a:r>
              <a:t>Downgraded graduates of all-women's colleges</a:t>
            </a:r>
          </a:p>
          <a:p>
            <a:pPr>
              <a:spcAft>
                <a:spcPts val="800"/>
              </a:spcAft>
              <a:defRPr sz="1600">
                <a:solidFill>
                  <a:srgbClr val="333333"/>
                </a:solidFill>
              </a:defRPr>
            </a:pPr>
            <a:r>
              <a:t>Amazon scrapped the tool in 2018</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Resume document with "women's chess club" highlighted and a red "penalized" stamp. Timeline of events.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Case Study — Predicting Who Will Re-Offend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COMPAS: Algorithm used in US courts to predict recidivism risk</a:t>
            </a:r>
          </a:p>
          <a:p>
            <a:pPr>
              <a:spcAft>
                <a:spcPts val="800"/>
              </a:spcAft>
              <a:defRPr sz="1600">
                <a:solidFill>
                  <a:srgbClr val="333333"/>
                </a:solidFill>
              </a:defRPr>
            </a:pPr>
            <a:r>
              <a:t>ProPublica investigation (2016) found racial bias</a:t>
            </a:r>
          </a:p>
          <a:p>
            <a:pPr>
              <a:spcAft>
                <a:spcPts val="800"/>
              </a:spcAft>
              <a:defRPr sz="1600">
                <a:solidFill>
                  <a:srgbClr val="333333"/>
                </a:solidFill>
              </a:defRPr>
            </a:pPr>
            <a:r>
              <a:t>Black defendants were twice as likely to be falsely flagged as high-risk</a:t>
            </a:r>
          </a:p>
          <a:p>
            <a:pPr>
              <a:spcAft>
                <a:spcPts val="800"/>
              </a:spcAft>
              <a:defRPr sz="1600">
                <a:solidFill>
                  <a:srgbClr val="333333"/>
                </a:solidFill>
              </a:defRPr>
            </a:pPr>
            <a:r>
              <a:t>White defendants were more likely to be falsely labeled as low-risk</a:t>
            </a:r>
          </a:p>
          <a:p>
            <a:pPr>
              <a:spcAft>
                <a:spcPts val="800"/>
              </a:spcAft>
              <a:defRPr sz="1600">
                <a:solidFill>
                  <a:srgbClr val="333333"/>
                </a:solidFill>
              </a:defRPr>
            </a:pPr>
            <a:r>
              <a:t>The algorithm's developers said it was "equally accurate" across races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Side-by-side error rates by race. Highlight the different types of errors (false positives vs false negatives).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Does "Fair" Even Mean?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Equal accuracy: Same overall accuracy across groups</a:t>
            </a:r>
          </a:p>
          <a:p>
            <a:pPr>
              <a:spcAft>
                <a:spcPts val="800"/>
              </a:spcAft>
              <a:defRPr sz="1600">
                <a:solidFill>
                  <a:srgbClr val="333333"/>
                </a:solidFill>
              </a:defRPr>
            </a:pPr>
            <a:r>
              <a:t>Equal error rates: Same false positive/negative rates across groups</a:t>
            </a:r>
          </a:p>
          <a:p>
            <a:pPr>
              <a:spcAft>
                <a:spcPts val="800"/>
              </a:spcAft>
              <a:defRPr sz="1600">
                <a:solidFill>
                  <a:srgbClr val="333333"/>
                </a:solidFill>
              </a:defRPr>
            </a:pPr>
            <a:r>
              <a:t>Demographic parity: Same proportion of positive outcomes across groups</a:t>
            </a:r>
          </a:p>
          <a:p>
            <a:pPr>
              <a:spcAft>
                <a:spcPts val="800"/>
              </a:spcAft>
              <a:defRPr sz="1600">
                <a:solidFill>
                  <a:srgbClr val="333333"/>
                </a:solidFill>
              </a:defRPr>
            </a:pPr>
            <a:r>
              <a:t>Mathematical proof: You cannot satisfy all fairness criteria simultaneously</a:t>
            </a:r>
          </a:p>
          <a:p>
            <a:pPr>
              <a:spcAft>
                <a:spcPts val="800"/>
              </a:spcAft>
              <a:defRPr sz="1600">
                <a:solidFill>
                  <a:srgbClr val="333333"/>
                </a:solidFill>
              </a:defRPr>
            </a:pPr>
            <a:r>
              <a:t>Choosing which fairness metric = a human value judgment, not a technical one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Three fairness definitions as overlapping circles that don't fully overlap — illustrating the impossibility of satisfying all simultaneously.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AI and Your Data — Who Knows What?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ML models need data — often personal data</a:t>
            </a:r>
          </a:p>
          <a:p>
            <a:pPr>
              <a:spcAft>
                <a:spcPts val="800"/>
              </a:spcAft>
              <a:defRPr sz="1600">
                <a:solidFill>
                  <a:srgbClr val="333333"/>
                </a:solidFill>
              </a:defRPr>
            </a:pPr>
            <a:r>
              <a:t>Facial recognition: Trained on billions of photos, often without consent</a:t>
            </a:r>
          </a:p>
          <a:p>
            <a:pPr>
              <a:spcAft>
                <a:spcPts val="800"/>
              </a:spcAft>
              <a:defRPr sz="1600">
                <a:solidFill>
                  <a:srgbClr val="333333"/>
                </a:solidFill>
              </a:defRPr>
            </a:pPr>
            <a:r>
              <a:t>Voice assistants: Recording conversations to improve models</a:t>
            </a:r>
          </a:p>
          <a:p>
            <a:pPr>
              <a:spcAft>
                <a:spcPts val="800"/>
              </a:spcAft>
              <a:defRPr sz="1600">
                <a:solidFill>
                  <a:srgbClr val="333333"/>
                </a:solidFill>
              </a:defRPr>
            </a:pPr>
            <a:r>
              <a:t>Data collection in Uzbekistan: What are people comfortable sharing?</a:t>
            </a:r>
          </a:p>
          <a:p>
            <a:pPr>
              <a:spcAft>
                <a:spcPts val="800"/>
              </a:spcAft>
              <a:defRPr sz="1600">
                <a:solidFill>
                  <a:srgbClr val="333333"/>
                </a:solidFill>
              </a:defRPr>
            </a:pPr>
            <a:r>
              <a:t>GDPR (Europe), CCPA (California) — regulation is catching up</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Person silhouette with data streams flowing out: location, purchases, browsing, voice, face. Question marks over each stream.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Case Study — Facial Recognition Doesn't See Everyone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MIT study (2018): Commercial facial recognition systems tested</a:t>
            </a:r>
          </a:p>
          <a:p>
            <a:pPr>
              <a:spcAft>
                <a:spcPts val="800"/>
              </a:spcAft>
              <a:defRPr sz="1600">
                <a:solidFill>
                  <a:srgbClr val="333333"/>
                </a:solidFill>
              </a:defRPr>
            </a:pPr>
            <a:r>
              <a:t>Error rates: White men ~1%, darker-skinned women ~35%</a:t>
            </a:r>
          </a:p>
          <a:p>
            <a:pPr>
              <a:spcAft>
                <a:spcPts val="800"/>
              </a:spcAft>
              <a:defRPr sz="1600">
                <a:solidFill>
                  <a:srgbClr val="333333"/>
                </a:solidFill>
              </a:defRPr>
            </a:pPr>
            <a:r>
              <a:t>Cause: Training data dominated by lighter-skinned faces</a:t>
            </a:r>
          </a:p>
          <a:p>
            <a:pPr>
              <a:spcAft>
                <a:spcPts val="800"/>
              </a:spcAft>
              <a:defRPr sz="1600">
                <a:solidFill>
                  <a:srgbClr val="333333"/>
                </a:solidFill>
              </a:defRPr>
            </a:pPr>
            <a:r>
              <a:t>Impact: False arrests, surveillance targeting minorities</a:t>
            </a:r>
          </a:p>
          <a:p>
            <a:pPr>
              <a:spcAft>
                <a:spcPts val="800"/>
              </a:spcAft>
              <a:defRPr sz="1600">
                <a:solidFill>
                  <a:srgbClr val="333333"/>
                </a:solidFill>
              </a:defRPr>
            </a:pPr>
            <a:r>
              <a:t>Several US cities banned government use of facial recognition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Accuracy comparison chart across demographic groups. Photos showing correct vs incorrect identifications.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Group Discussion — What Would You Do?</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Scenario A: Your bank's loan model rejects more women than men. Accuracy is the same. What do you do?</a:t>
            </a:r>
          </a:p>
          <a:p>
            <a:pPr>
              <a:spcAft>
                <a:spcPts val="800"/>
              </a:spcAft>
              <a:defRPr sz="1600">
                <a:solidFill>
                  <a:srgbClr val="333333"/>
                </a:solidFill>
              </a:defRPr>
            </a:pPr>
            <a:r>
              <a:t>Scenario B: A school wants to use AI to predict which students will drop out. Good idea or bad idea?</a:t>
            </a:r>
          </a:p>
          <a:p>
            <a:pPr>
              <a:spcAft>
                <a:spcPts val="800"/>
              </a:spcAft>
              <a:defRPr sz="1600">
                <a:solidFill>
                  <a:srgbClr val="333333"/>
                </a:solidFill>
              </a:defRPr>
            </a:pPr>
            <a:r>
              <a:t>Scenario C: Government wants real-time facial recognition in Tashkent metro for security.</a:t>
            </a:r>
          </a:p>
          <a:p>
            <a:pPr>
              <a:spcAft>
                <a:spcPts val="800"/>
              </a:spcAft>
              <a:defRPr sz="1600">
                <a:solidFill>
                  <a:srgbClr val="333333"/>
                </a:solidFill>
              </a:defRPr>
            </a:pPr>
            <a:r>
              <a:t>Scenario D: A telecom uses customer data to predict churn and sells retention lists to third parties.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Four scenario cards, each color-coded. Timer visible.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Did We Decide?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Each group presents: 3 minutes per group</a:t>
            </a:r>
          </a:p>
          <a:p>
            <a:pPr>
              <a:spcAft>
                <a:spcPts val="800"/>
              </a:spcAft>
              <a:defRPr sz="1600">
                <a:solidFill>
                  <a:srgbClr val="333333"/>
                </a:solidFill>
              </a:defRPr>
            </a:pPr>
            <a:r>
              <a:t>Class challenges and asks questions</a:t>
            </a:r>
          </a:p>
          <a:p>
            <a:pPr>
              <a:spcAft>
                <a:spcPts val="800"/>
              </a:spcAft>
              <a:defRPr sz="1600">
                <a:solidFill>
                  <a:srgbClr val="333333"/>
                </a:solidFill>
              </a:defRPr>
            </a:pPr>
            <a:r>
              <a:t>Key themes to track: consent, transparency, accountability, alternatives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Discussion format slide — group numbers, time allocation, key questions listed.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Building AI Responsibly — A Framework</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Transparency: People should know when AI is making decisions about them</a:t>
            </a:r>
          </a:p>
          <a:p>
            <a:pPr>
              <a:spcAft>
                <a:spcPts val="800"/>
              </a:spcAft>
              <a:defRPr sz="1600">
                <a:solidFill>
                  <a:srgbClr val="333333"/>
                </a:solidFill>
              </a:defRPr>
            </a:pPr>
            <a:r>
              <a:t>Accountability: Someone must be responsible when AI causes harm</a:t>
            </a:r>
          </a:p>
          <a:p>
            <a:pPr>
              <a:spcAft>
                <a:spcPts val="800"/>
              </a:spcAft>
              <a:defRPr sz="1600">
                <a:solidFill>
                  <a:srgbClr val="333333"/>
                </a:solidFill>
              </a:defRPr>
            </a:pPr>
            <a:r>
              <a:t>Fairness: Actively test for and mitigate bias</a:t>
            </a:r>
          </a:p>
          <a:p>
            <a:pPr>
              <a:spcAft>
                <a:spcPts val="800"/>
              </a:spcAft>
              <a:defRPr sz="1600">
                <a:solidFill>
                  <a:srgbClr val="333333"/>
                </a:solidFill>
              </a:defRPr>
            </a:pPr>
            <a:r>
              <a:t>Privacy: Collect only what you need, protect what you have</a:t>
            </a:r>
          </a:p>
          <a:p>
            <a:pPr>
              <a:spcAft>
                <a:spcPts val="800"/>
              </a:spcAft>
              <a:defRPr sz="1600">
                <a:solidFill>
                  <a:srgbClr val="333333"/>
                </a:solidFill>
              </a:defRPr>
            </a:pPr>
            <a:r>
              <a:t>Human oversight: Keep humans in the loop for high-stakes decisions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Five principles as a pentagon/radar chart. Each principle with a one-line description.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Ethics Considerations Specific to Uzbekistan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Rapidly growing digital infrastructure — decisions made now set precedents</a:t>
            </a:r>
          </a:p>
          <a:p>
            <a:pPr>
              <a:spcAft>
                <a:spcPts val="800"/>
              </a:spcAft>
              <a:defRPr sz="1600">
                <a:solidFill>
                  <a:srgbClr val="333333"/>
                </a:solidFill>
              </a:defRPr>
            </a:pPr>
            <a:r>
              <a:t>Uzbek/Russian bilingual data — whose language gets priority?</a:t>
            </a:r>
          </a:p>
          <a:p>
            <a:pPr>
              <a:spcAft>
                <a:spcPts val="800"/>
              </a:spcAft>
              <a:defRPr sz="1600">
                <a:solidFill>
                  <a:srgbClr val="333333"/>
                </a:solidFill>
              </a:defRPr>
            </a:pPr>
            <a:r>
              <a:t>Rural vs urban digital divide — AI trained on Tashkent data won't work in Navoi</a:t>
            </a:r>
          </a:p>
          <a:p>
            <a:pPr>
              <a:spcAft>
                <a:spcPts val="800"/>
              </a:spcAft>
              <a:defRPr sz="1600">
                <a:solidFill>
                  <a:srgbClr val="333333"/>
                </a:solidFill>
              </a:defRPr>
            </a:pPr>
            <a:r>
              <a:t>Young population — most affected by AI decisions in education, jobs, services</a:t>
            </a:r>
          </a:p>
          <a:p>
            <a:pPr>
              <a:spcAft>
                <a:spcPts val="800"/>
              </a:spcAft>
              <a:defRPr sz="1600">
                <a:solidFill>
                  <a:srgbClr val="333333"/>
                </a:solidFill>
              </a:defRPr>
            </a:pPr>
            <a:r>
              <a:t>Opportunity: Uzbekistan can learn from other countries' mistakes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Uzbekistan map with callouts for specific regional considerations.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AI bias comes from data and design choices — not from the algorithm being "evil"</a:t>
            </a:r>
          </a:p>
          <a:p>
            <a:pPr>
              <a:spcAft>
                <a:spcPts val="800"/>
              </a:spcAft>
              <a:defRPr sz="1600">
                <a:solidFill>
                  <a:srgbClr val="333333"/>
                </a:solidFill>
              </a:defRPr>
            </a:pPr>
            <a:r>
              <a:t>Fairness has multiple definitions that can conflict with each other</a:t>
            </a:r>
          </a:p>
          <a:p>
            <a:pPr>
              <a:spcAft>
                <a:spcPts val="800"/>
              </a:spcAft>
              <a:defRPr sz="1600">
                <a:solidFill>
                  <a:srgbClr val="333333"/>
                </a:solidFill>
              </a:defRPr>
            </a:pPr>
            <a:r>
              <a:t>Privacy and consent are foundational — not afterthoughts</a:t>
            </a:r>
          </a:p>
          <a:p>
            <a:pPr>
              <a:spcAft>
                <a:spcPts val="800"/>
              </a:spcAft>
              <a:defRPr sz="1600">
                <a:solidFill>
                  <a:srgbClr val="333333"/>
                </a:solidFill>
              </a:defRPr>
            </a:pPr>
            <a:r>
              <a:t>Real cases: Amazon hiring, COMPAS, facial recognition — all cautionary tales</a:t>
            </a:r>
          </a:p>
          <a:p>
            <a:pPr>
              <a:spcAft>
                <a:spcPts val="800"/>
              </a:spcAft>
              <a:defRPr sz="1600">
                <a:solidFill>
                  <a:srgbClr val="333333"/>
                </a:solidFill>
              </a:defRPr>
            </a:pPr>
            <a:r>
              <a:t>Your responsibility as a future practitioner: ask the hard questions</a:t>
            </a:r>
          </a:p>
          <a:p>
            <a:pPr>
              <a:spcAft>
                <a:spcPts val="800"/>
              </a:spcAft>
              <a:defRPr sz="1600">
                <a:solidFill>
                  <a:srgbClr val="333333"/>
                </a:solidFill>
              </a:defRPr>
            </a:pPr>
            <a:r>
              <a:t>Next class: Lab session — Activity 3 (churn framing) + Module Quiz</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Key takeaway cards. Arrow pointing to "Next: Lab."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the Lab Session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Review the ML workflow (6 steps) — you'll need it</a:t>
            </a:r>
          </a:p>
          <a:p>
            <a:pPr>
              <a:spcAft>
                <a:spcPts val="800"/>
              </a:spcAft>
              <a:defRPr sz="1600">
                <a:solidFill>
                  <a:srgbClr val="333333"/>
                </a:solidFill>
              </a:defRPr>
            </a:pPr>
            <a:r>
              <a:t>Review all three ML types — quiz will cover them</a:t>
            </a:r>
          </a:p>
          <a:p>
            <a:pPr>
              <a:spcAft>
                <a:spcPts val="800"/>
              </a:spcAft>
              <a:defRPr sz="1600">
                <a:solidFill>
                  <a:srgbClr val="333333"/>
                </a:solidFill>
              </a:defRPr>
            </a:pPr>
            <a:r>
              <a:t>Think about churn prediction: What data? What features? What ML type?</a:t>
            </a:r>
          </a:p>
          <a:p>
            <a:pPr>
              <a:spcAft>
                <a:spcPts val="800"/>
              </a:spcAft>
              <a:defRPr sz="1600">
                <a:solidFill>
                  <a:srgbClr val="333333"/>
                </a:solidFill>
              </a:defRPr>
            </a:pPr>
            <a:r>
              <a:t>Bring a laptop if possible — or be ready to work in pairs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Preparation checklist. ---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5: Lab Session — Activity 3 + Quiz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Module 1 Lab — Churn Prediction Framing + Quiz</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1, Class 5 (Lab)</a:t>
            </a:r>
          </a:p>
          <a:p>
            <a:pPr>
              <a:spcAft>
                <a:spcPts val="800"/>
              </a:spcAft>
              <a:defRPr sz="1600">
                <a:solidFill>
                  <a:srgbClr val="333333"/>
                </a:solidFill>
              </a:defRPr>
            </a:pPr>
            <a:r>
              <a:t>Activity 3: Frame a real ML problem</a:t>
            </a:r>
          </a:p>
          <a:p>
            <a:pPr>
              <a:spcAft>
                <a:spcPts val="800"/>
              </a:spcAft>
              <a:defRPr sz="1600">
                <a:solidFill>
                  <a:srgbClr val="333333"/>
                </a:solidFill>
              </a:defRPr>
            </a:pPr>
            <a:r>
              <a:t>Module 1 Quiz (15 MCQs)</a:t>
            </a:r>
          </a:p>
          <a:p>
            <a:pPr>
              <a:spcAft>
                <a:spcPts val="800"/>
              </a:spcAft>
              <a:defRPr sz="1600">
                <a:solidFill>
                  <a:srgbClr val="333333"/>
                </a:solidFill>
              </a:defRPr>
            </a:pPr>
            <a:r>
              <a:t>Bring everything you've learned this module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Lab title card with timer breakdown: Warm-up (10 min) → Activity 3 (50 min) → Quiz (20 min) → Wrap-up (10 min).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Today's Plan — 90 Minutes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0:00-0:10 — Warm-up review exercise</a:t>
            </a:r>
          </a:p>
          <a:p>
            <a:pPr>
              <a:spcAft>
                <a:spcPts val="800"/>
              </a:spcAft>
              <a:defRPr sz="1600">
                <a:solidFill>
                  <a:srgbClr val="333333"/>
                </a:solidFill>
              </a:defRPr>
            </a:pPr>
            <a:r>
              <a:t>0:10-0:20 — Activity 3 introduction and team formation</a:t>
            </a:r>
          </a:p>
          <a:p>
            <a:pPr>
              <a:spcAft>
                <a:spcPts val="800"/>
              </a:spcAft>
              <a:defRPr sz="1600">
                <a:solidFill>
                  <a:srgbClr val="333333"/>
                </a:solidFill>
              </a:defRPr>
            </a:pPr>
            <a:r>
              <a:t>0:20-0:55 — Group work: Frame the churn problem</a:t>
            </a:r>
          </a:p>
          <a:p>
            <a:pPr>
              <a:spcAft>
                <a:spcPts val="800"/>
              </a:spcAft>
              <a:defRPr sz="1600">
                <a:solidFill>
                  <a:srgbClr val="333333"/>
                </a:solidFill>
              </a:defRPr>
            </a:pPr>
            <a:r>
              <a:t>0:55-1:05 — Group presentations (2 min each)</a:t>
            </a:r>
          </a:p>
          <a:p>
            <a:pPr>
              <a:spcAft>
                <a:spcPts val="800"/>
              </a:spcAft>
              <a:defRPr sz="1600">
                <a:solidFill>
                  <a:srgbClr val="333333"/>
                </a:solidFill>
              </a:defRPr>
            </a:pPr>
            <a:r>
              <a:t>1:05-1:25 — Module 1 Quiz (15 MCQs)</a:t>
            </a:r>
          </a:p>
          <a:p>
            <a:pPr>
              <a:spcAft>
                <a:spcPts val="800"/>
              </a:spcAft>
              <a:defRPr sz="1600">
                <a:solidFill>
                  <a:srgbClr val="333333"/>
                </a:solidFill>
              </a:defRPr>
            </a:pPr>
            <a:r>
              <a:t>1:25-1:30 — Wrap-up and Module 2 preview</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Timeline bar with time blocks color-coded by activity type.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Warm-Up — Quick Fire Round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I'll ask 10 rapid questions — shout out the answers</a:t>
            </a:r>
          </a:p>
          <a:p>
            <a:pPr>
              <a:spcAft>
                <a:spcPts val="800"/>
              </a:spcAft>
              <a:defRPr sz="1600">
                <a:solidFill>
                  <a:srgbClr val="333333"/>
                </a:solidFill>
              </a:defRPr>
            </a:pPr>
            <a:r>
              <a:t>Topics: AI vs ML vs DL, ML types, workflow steps, ethics</a:t>
            </a:r>
          </a:p>
          <a:p>
            <a:pPr>
              <a:spcAft>
                <a:spcPts val="800"/>
              </a:spcAft>
              <a:defRPr sz="1600">
                <a:solidFill>
                  <a:srgbClr val="333333"/>
                </a:solidFill>
              </a:defRPr>
            </a:pPr>
            <a:r>
              <a:t>No grades — just getting your brains warmed up</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Question cards that can be revealed one at a time. Game-show style.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[ACTIVITY] Real-World Integration: Telecom Churn Framing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Scenario: You're the data team at UzTelCom (fictional company, based on real telecom)</a:t>
            </a:r>
          </a:p>
          <a:p>
            <a:pPr>
              <a:spcAft>
                <a:spcPts val="800"/>
              </a:spcAft>
              <a:defRPr sz="1600">
                <a:solidFill>
                  <a:srgbClr val="333333"/>
                </a:solidFill>
              </a:defRPr>
            </a:pPr>
            <a:r>
              <a:t>Management says: "We're losing customers. Can AI help?"</a:t>
            </a:r>
          </a:p>
          <a:p>
            <a:pPr>
              <a:spcAft>
                <a:spcPts val="800"/>
              </a:spcAft>
              <a:defRPr sz="1600">
                <a:solidFill>
                  <a:srgbClr val="333333"/>
                </a:solidFill>
              </a:defRPr>
            </a:pPr>
            <a:r>
              <a:t>Your job: Frame this as an ML problem — end to end</a:t>
            </a:r>
          </a:p>
          <a:p>
            <a:pPr>
              <a:spcAft>
                <a:spcPts val="800"/>
              </a:spcAft>
              <a:defRPr sz="1600">
                <a:solidFill>
                  <a:srgbClr val="333333"/>
                </a:solidFill>
              </a:defRPr>
            </a:pPr>
            <a:r>
              <a:t>Deliverable: A one-page problem framing document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Scenario setup card with fictional company logo and management quote.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Your Problem Framing Document Must Include:</a:t>
            </a:r>
          </a:p>
        </p:txBody>
      </p:sp>
      <p:sp>
        <p:nvSpPr>
          <p:cNvPr id="4" name="TextBox 3"/>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Numbered checklist — each item with a brief example.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Form Teams of 3-4</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Mix it up — don't just sit with your usual group</a:t>
            </a:r>
          </a:p>
          <a:p>
            <a:pPr>
              <a:spcAft>
                <a:spcPts val="800"/>
              </a:spcAft>
              <a:defRPr sz="1600">
                <a:solidFill>
                  <a:srgbClr val="333333"/>
                </a:solidFill>
              </a:defRPr>
            </a:pPr>
            <a:r>
              <a:t>Assign roles:</a:t>
            </a:r>
          </a:p>
          <a:p>
            <a:pPr>
              <a:spcAft>
                <a:spcPts val="800"/>
              </a:spcAft>
              <a:defRPr sz="1600">
                <a:solidFill>
                  <a:srgbClr val="333333"/>
                </a:solidFill>
              </a:defRPr>
            </a:pPr>
            <a:r>
              <a:t>Lead: Keeps the team focused, presents at the end</a:t>
            </a:r>
          </a:p>
          <a:p>
            <a:pPr>
              <a:spcAft>
                <a:spcPts val="800"/>
              </a:spcAft>
              <a:defRPr sz="1600">
                <a:solidFill>
                  <a:srgbClr val="333333"/>
                </a:solidFill>
              </a:defRPr>
            </a:pPr>
            <a:r>
              <a:t>Scribe: Writes the document</a:t>
            </a:r>
          </a:p>
          <a:p>
            <a:pPr>
              <a:spcAft>
                <a:spcPts val="800"/>
              </a:spcAft>
              <a:defRPr sz="1600">
                <a:solidFill>
                  <a:srgbClr val="333333"/>
                </a:solidFill>
              </a:defRPr>
            </a:pPr>
            <a:r>
              <a:t>Challenger: Questions every assumption</a:t>
            </a:r>
          </a:p>
          <a:p>
            <a:pPr>
              <a:spcAft>
                <a:spcPts val="800"/>
              </a:spcAft>
              <a:defRPr sz="1600">
                <a:solidFill>
                  <a:srgbClr val="333333"/>
                </a:solidFill>
              </a:defRPr>
            </a:pPr>
            <a:r>
              <a:t>You have 35 minutes — manage your time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Role cards with descriptions. Timer set to 35 minutes. ---</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Things to Think About While Working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Churn definition matters: "Canceled" vs "inactive 30 days" vs "downgraded plan"</a:t>
            </a:r>
          </a:p>
          <a:p>
            <a:pPr>
              <a:spcAft>
                <a:spcPts val="800"/>
              </a:spcAft>
              <a:defRPr sz="1600">
                <a:solidFill>
                  <a:srgbClr val="333333"/>
                </a:solidFill>
              </a:defRPr>
            </a:pPr>
            <a:r>
              <a:t>Feature categories: Usage data, billing, demographics, customer service interactions</a:t>
            </a:r>
          </a:p>
          <a:p>
            <a:pPr>
              <a:spcAft>
                <a:spcPts val="800"/>
              </a:spcAft>
              <a:defRPr sz="1600">
                <a:solidFill>
                  <a:srgbClr val="333333"/>
                </a:solidFill>
              </a:defRPr>
            </a:pPr>
            <a:r>
              <a:t>Think about what data a real telecom actually has (not wishful thinking)</a:t>
            </a:r>
          </a:p>
          <a:p>
            <a:pPr>
              <a:spcAft>
                <a:spcPts val="800"/>
              </a:spcAft>
              <a:defRPr sz="1600">
                <a:solidFill>
                  <a:srgbClr val="333333"/>
                </a:solidFill>
              </a:defRPr>
            </a:pPr>
            <a:r>
              <a:t>Time horizon: Predicting churn in the next 7 days vs 30 days vs 90 days?</a:t>
            </a:r>
          </a:p>
          <a:p>
            <a:pPr>
              <a:spcAft>
                <a:spcPts val="800"/>
              </a:spcAft>
              <a:defRPr sz="1600">
                <a:solidFill>
                  <a:srgbClr val="333333"/>
                </a:solidFill>
              </a:defRPr>
            </a:pPr>
            <a:r>
              <a:t>Uzbekistan context: Prepaid vs postpaid behave very differently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Hint cards — expandable if projected.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Work Time — 35 Minutes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Clock is running</a:t>
            </a:r>
          </a:p>
          <a:p>
            <a:pPr>
              <a:spcAft>
                <a:spcPts val="800"/>
              </a:spcAft>
              <a:defRPr sz="1600">
                <a:solidFill>
                  <a:srgbClr val="333333"/>
                </a:solidFill>
              </a:defRPr>
            </a:pPr>
            <a:r>
              <a:t>I'll circulate to each group</a:t>
            </a:r>
          </a:p>
          <a:p>
            <a:pPr>
              <a:spcAft>
                <a:spcPts val="800"/>
              </a:spcAft>
              <a:defRPr sz="1600">
                <a:solidFill>
                  <a:srgbClr val="333333"/>
                </a:solidFill>
              </a:defRPr>
            </a:pPr>
            <a:r>
              <a:t>If stuck, raise your hand — but try to solve it yourselves first</a:t>
            </a:r>
          </a:p>
          <a:p>
            <a:pPr>
              <a:spcAft>
                <a:spcPts val="800"/>
              </a:spcAft>
              <a:defRPr sz="1600">
                <a:solidFill>
                  <a:srgbClr val="333333"/>
                </a:solidFill>
              </a:defRPr>
            </a:pPr>
            <a:r>
              <a:t>Remember: No right answer, but your reasoning must be solid</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Large timer. Minimal text — this is a working slide.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Present Your Problem Framing — 2 Minutes Per Group</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Lead presents the 7 components</a:t>
            </a:r>
          </a:p>
          <a:p>
            <a:pPr>
              <a:spcAft>
                <a:spcPts val="800"/>
              </a:spcAft>
              <a:defRPr sz="1600">
                <a:solidFill>
                  <a:srgbClr val="333333"/>
                </a:solidFill>
              </a:defRPr>
            </a:pPr>
            <a:r>
              <a:t>Class can ask one question per presentation</a:t>
            </a:r>
          </a:p>
          <a:p>
            <a:pPr>
              <a:spcAft>
                <a:spcPts val="800"/>
              </a:spcAft>
              <a:defRPr sz="1600">
                <a:solidFill>
                  <a:srgbClr val="333333"/>
                </a:solidFill>
              </a:defRPr>
            </a:pPr>
            <a:r>
              <a:t>Listen for: How did different groups define churn?</a:t>
            </a:r>
          </a:p>
          <a:p>
            <a:pPr>
              <a:spcAft>
                <a:spcPts val="800"/>
              </a:spcAft>
              <a:defRPr sz="1600">
                <a:solidFill>
                  <a:srgbClr val="333333"/>
                </a:solidFill>
              </a:defRPr>
            </a:pPr>
            <a:r>
              <a:t>Listen for: Which features did most groups agree 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Presentation format slide with timer.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Learned from the Activity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Problem framing is harder than it looks — most time spent on definitions</a:t>
            </a:r>
          </a:p>
          <a:p>
            <a:pPr>
              <a:spcAft>
                <a:spcPts val="800"/>
              </a:spcAft>
              <a:defRPr sz="1600">
                <a:solidFill>
                  <a:srgbClr val="333333"/>
                </a:solidFill>
              </a:defRPr>
            </a:pPr>
            <a:r>
              <a:t>Feature selection requires domain knowledge, not just technical skill</a:t>
            </a:r>
          </a:p>
          <a:p>
            <a:pPr>
              <a:spcAft>
                <a:spcPts val="800"/>
              </a:spcAft>
              <a:defRPr sz="1600">
                <a:solidFill>
                  <a:srgbClr val="333333"/>
                </a:solidFill>
              </a:defRPr>
            </a:pPr>
            <a:r>
              <a:t>Different churn definitions lead to fundamentally different models</a:t>
            </a:r>
          </a:p>
          <a:p>
            <a:pPr>
              <a:spcAft>
                <a:spcPts val="800"/>
              </a:spcAft>
              <a:defRPr sz="1600">
                <a:solidFill>
                  <a:srgbClr val="333333"/>
                </a:solidFill>
              </a:defRPr>
            </a:pPr>
            <a:r>
              <a:t>Real ML projects start exactly like this — before any code is written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Summary card with key insights from the activity.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the Quiz — Reflect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What was the hardest part of the framing exercise?</a:t>
            </a:r>
          </a:p>
          <a:p>
            <a:pPr>
              <a:spcAft>
                <a:spcPts val="800"/>
              </a:spcAft>
              <a:defRPr sz="1600">
                <a:solidFill>
                  <a:srgbClr val="333333"/>
                </a:solidFill>
              </a:defRPr>
            </a:pPr>
            <a:r>
              <a:t>What would you do differently if you started over?</a:t>
            </a:r>
          </a:p>
          <a:p>
            <a:pPr>
              <a:spcAft>
                <a:spcPts val="800"/>
              </a:spcAft>
              <a:defRPr sz="1600">
                <a:solidFill>
                  <a:srgbClr val="333333"/>
                </a:solidFill>
              </a:defRPr>
            </a:pPr>
            <a:r>
              <a:t>How does this connect to the ML workflow we learned in Class 2?</a:t>
            </a:r>
          </a:p>
          <a:p>
            <a:pPr>
              <a:spcAft>
                <a:spcPts val="800"/>
              </a:spcAft>
              <a:defRPr sz="1600">
                <a:solidFill>
                  <a:srgbClr val="333333"/>
                </a:solidFill>
              </a:defRPr>
            </a:pPr>
            <a:r>
              <a:t>What data would be hardest to actually get from a real company?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Four reflection questions, clean layout.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Module 1 Quiz — 15 Multiple Choice Questions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Covers all 4 lectures: AI/ML types, foundations, applications, ethics</a:t>
            </a:r>
          </a:p>
          <a:p>
            <a:pPr>
              <a:spcAft>
                <a:spcPts val="800"/>
              </a:spcAft>
              <a:defRPr sz="1600">
                <a:solidFill>
                  <a:srgbClr val="333333"/>
                </a:solidFill>
              </a:defRPr>
            </a:pPr>
            <a:r>
              <a:t>20 minutes — take your time</a:t>
            </a:r>
          </a:p>
          <a:p>
            <a:pPr>
              <a:spcAft>
                <a:spcPts val="800"/>
              </a:spcAft>
              <a:defRPr sz="1600">
                <a:solidFill>
                  <a:srgbClr val="333333"/>
                </a:solidFill>
              </a:defRPr>
            </a:pPr>
            <a:r>
              <a:t>No tricks — if you attended class, you'll do fine</a:t>
            </a:r>
          </a:p>
          <a:p>
            <a:pPr>
              <a:spcAft>
                <a:spcPts val="800"/>
              </a:spcAft>
              <a:defRPr sz="1600">
                <a:solidFill>
                  <a:srgbClr val="333333"/>
                </a:solidFill>
              </a:defRPr>
            </a:pPr>
            <a:r>
              <a:t>Closed notes (but the concepts should be in your head by now)</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Quiz instruction card. Timer set to 20 minutes. ---</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Quiz Covers These Areas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AI vs ML vs DL definitions and relationships (3 questions)</a:t>
            </a:r>
          </a:p>
          <a:p>
            <a:pPr>
              <a:spcAft>
                <a:spcPts val="800"/>
              </a:spcAft>
              <a:defRPr sz="1600">
                <a:solidFill>
                  <a:srgbClr val="333333"/>
                </a:solidFill>
              </a:defRPr>
            </a:pPr>
            <a:r>
              <a:t>Types of ML: supervised, unsupervised, reinforcement (3 questions)</a:t>
            </a:r>
          </a:p>
          <a:p>
            <a:pPr>
              <a:spcAft>
                <a:spcPts val="800"/>
              </a:spcAft>
              <a:defRPr sz="1600">
                <a:solidFill>
                  <a:srgbClr val="333333"/>
                </a:solidFill>
              </a:defRPr>
            </a:pPr>
            <a:r>
              <a:t>ML workflow steps (2 questions)</a:t>
            </a:r>
          </a:p>
          <a:p>
            <a:pPr>
              <a:spcAft>
                <a:spcPts val="800"/>
              </a:spcAft>
              <a:defRPr sz="1600">
                <a:solidFill>
                  <a:srgbClr val="333333"/>
                </a:solidFill>
              </a:defRPr>
            </a:pPr>
            <a:r>
              <a:t>Probability and statistics intuition (2 questions)</a:t>
            </a:r>
          </a:p>
          <a:p>
            <a:pPr>
              <a:spcAft>
                <a:spcPts val="800"/>
              </a:spcAft>
              <a:defRPr sz="1600">
                <a:solidFill>
                  <a:srgbClr val="333333"/>
                </a:solidFill>
              </a:defRPr>
            </a:pPr>
            <a:r>
              <a:t>ITES applications (3 questions)</a:t>
            </a:r>
          </a:p>
          <a:p>
            <a:pPr>
              <a:spcAft>
                <a:spcPts val="800"/>
              </a:spcAft>
              <a:defRPr sz="1600">
                <a:solidFill>
                  <a:srgbClr val="333333"/>
                </a:solidFill>
              </a:defRPr>
            </a:pPr>
            <a:r>
              <a:t>Ethics: bias, fairness, privacy (2 questions)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Topic breakdown with question count per area.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Module 1 Complete — What You've Learned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What AI, ML, and DL are — and how they relate</a:t>
            </a:r>
          </a:p>
          <a:p>
            <a:pPr>
              <a:spcAft>
                <a:spcPts val="800"/>
              </a:spcAft>
              <a:defRPr sz="1600">
                <a:solidFill>
                  <a:srgbClr val="333333"/>
                </a:solidFill>
              </a:defRPr>
            </a:pPr>
            <a:r>
              <a:t>Three types of ML and when to use each</a:t>
            </a:r>
          </a:p>
          <a:p>
            <a:pPr>
              <a:spcAft>
                <a:spcPts val="800"/>
              </a:spcAft>
              <a:defRPr sz="1600">
                <a:solidFill>
                  <a:srgbClr val="333333"/>
                </a:solidFill>
              </a:defRPr>
            </a:pPr>
            <a:r>
              <a:t>The end-to-end ML workflow</a:t>
            </a:r>
          </a:p>
          <a:p>
            <a:pPr>
              <a:spcAft>
                <a:spcPts val="800"/>
              </a:spcAft>
              <a:defRPr sz="1600">
                <a:solidFill>
                  <a:srgbClr val="333333"/>
                </a:solidFill>
              </a:defRPr>
            </a:pPr>
            <a:r>
              <a:t>Real-world applications in ITES and Uzbekistan</a:t>
            </a:r>
          </a:p>
          <a:p>
            <a:pPr>
              <a:spcAft>
                <a:spcPts val="800"/>
              </a:spcAft>
              <a:defRPr sz="1600">
                <a:solidFill>
                  <a:srgbClr val="333333"/>
                </a:solidFill>
              </a:defRPr>
            </a:pPr>
            <a:r>
              <a:t>Why ethics is not optional</a:t>
            </a:r>
          </a:p>
          <a:p>
            <a:pPr>
              <a:spcAft>
                <a:spcPts val="800"/>
              </a:spcAft>
              <a:defRPr sz="1600">
                <a:solidFill>
                  <a:srgbClr val="333333"/>
                </a:solidFill>
              </a:defRPr>
            </a:pPr>
            <a:r>
              <a:t>How to frame an ML problem from scratch</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Six achievement badges — one per class topic. Module 1 completion banner. ---</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Module 2: Programming and Mathematical Foundations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Python crash course — data types, functions, control flow</a:t>
            </a:r>
          </a:p>
          <a:p>
            <a:pPr>
              <a:spcAft>
                <a:spcPts val="800"/>
              </a:spcAft>
              <a:defRPr sz="1600">
                <a:solidFill>
                  <a:srgbClr val="333333"/>
                </a:solidFill>
              </a:defRPr>
            </a:pPr>
            <a:r>
              <a:t>NumPy and Pandas — the tools you'll use every day</a:t>
            </a:r>
          </a:p>
          <a:p>
            <a:pPr>
              <a:spcAft>
                <a:spcPts val="800"/>
              </a:spcAft>
              <a:defRPr sz="1600">
                <a:solidFill>
                  <a:srgbClr val="333333"/>
                </a:solidFill>
              </a:defRPr>
            </a:pPr>
            <a:r>
              <a:t>Data visualization — Matplotlib, Seaborn</a:t>
            </a:r>
          </a:p>
          <a:p>
            <a:pPr>
              <a:spcAft>
                <a:spcPts val="800"/>
              </a:spcAft>
              <a:defRPr sz="1600">
                <a:solidFill>
                  <a:srgbClr val="333333"/>
                </a:solidFill>
              </a:defRPr>
            </a:pPr>
            <a:r>
              <a:t>Linear algebra and calculus for ML — intuition first, formulas second</a:t>
            </a:r>
          </a:p>
          <a:p>
            <a:pPr>
              <a:spcAft>
                <a:spcPts val="800"/>
              </a:spcAft>
              <a:defRPr sz="1600">
                <a:solidFill>
                  <a:srgbClr val="333333"/>
                </a:solidFill>
              </a:defRPr>
            </a:pPr>
            <a:r>
              <a:t>Starts next week — come ready to code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Module 2 preview card with topic icons. Setup instructions link.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Final Assignment Step — Due Before Module 2 Starts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Polish your group's churn framing document</a:t>
            </a:r>
          </a:p>
          <a:p>
            <a:pPr>
              <a:spcAft>
                <a:spcPts val="800"/>
              </a:spcAft>
              <a:defRPr sz="1600">
                <a:solidFill>
                  <a:srgbClr val="333333"/>
                </a:solidFill>
              </a:defRPr>
            </a:pPr>
            <a:r>
              <a:t>Individual submission: Write your own version (can build on group work)</a:t>
            </a:r>
          </a:p>
          <a:p>
            <a:pPr>
              <a:spcAft>
                <a:spcPts val="800"/>
              </a:spcAft>
              <a:defRPr sz="1600">
                <a:solidFill>
                  <a:srgbClr val="333333"/>
                </a:solidFill>
              </a:defRPr>
            </a:pPr>
            <a:r>
              <a:t>Add a "Lessons Learned" section: What would you do differently?</a:t>
            </a:r>
          </a:p>
          <a:p>
            <a:pPr>
              <a:spcAft>
                <a:spcPts val="800"/>
              </a:spcAft>
              <a:defRPr sz="1600">
                <a:solidFill>
                  <a:srgbClr val="333333"/>
                </a:solidFill>
              </a:defRPr>
            </a:pPr>
            <a:r>
              <a:t>Submit via LMS before the first class of Module 2</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Submission checklist with deadline. --- *End of Module 1 Slide Blueprint — 5 classes (4 lectures + 1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