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Module 2. This is where we get our hands dirty. Everything we talked about in Module 1 — ML, AI, data science — it all runs on code. Python is the language of data science, and today you'll write your first lines. No prior experience needed.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might wonder why Python and not Java or C++. Simple — Python reads almost like English, and every major ML library is built for it. If you Google any data science question, the answer will be in Python. That's the ecosystem effect.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We're using Google Colab so nobody gets stuck on installation issues. Open your browser, go to colab.research.google.com, sign in with your Google account, and you have a full Python environment. It's the same tool many professionals use for prototyping.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along with me. Open Colab now. If anyone doesn't have a Google account, pair up with someone who does — we'll sort it out after class. Let's type our first line. When you see "Salom, dunyo!" printed below the cell, you've just run Python.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piece of data in Python has a type. Numbers can be integers or floats. Text is called a string. Booleans are just yes/no values. Lists hold multiple items in order. Think of these as containers — the type tells Python what kind of container it is and what operations are allowed.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is just a name you give to a piece of data so you can reuse it. Python doesn't need you to declare the type — it figures it out. Good variable names make your code readable. If I see `x = 35000000`, I have no idea what that is. If I see `population = 35_000_000`, it's obvious.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try this together. Create a few variables about yourself. Now use `type()` to check — Python will tell you it's an int, str, or whatever. Try adding your name and age together — you'll get an error. That's Python telling you it can't add text and numbers. This is your first lesson in debugging.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 flow is how your program makes decisions. If this, do that. Otherwise, do something else. The key thing in Python is indentation — the spaces before each line tell Python which code belongs to which block. This trips up beginners, so pay attention to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We'll build a grade checker step by step. I'll start with just pass/fail, then we'll add more grades. Watch what happens if I mess up the indentation — Python will throw an error immediately. That's actually helpful — it forces clean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Loops let you repeat an action without writing the same line 100 times. The for loop is the one you'll use 90% of the time in data science. It goes through each item in a list or range and does something with it. While loops are less common but useful when you don't know in advance how many times to repeat.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practice. Type along with me. First, loop through our cities list. Then let's use range to generate numbers. Here's a classic — can you sum all numbers from 1 to 100? Gauss did this in his head, but we'll let Python do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Functions are how you organize code into reusable pieces. Instead of writing the same formula every time, you wrap it in a function and call it by name. Every library you'll use — NumPy, Pandas, Sklearn — is just a collection of functions someone else wrote.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turn our earlier grade checker into a function. Instead of hardcoding the score, we pass it as a parameter. Now we can check any score by calling the function. This is the core idea — write once, use many times.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Lists and dictionaries are the two collections you'll use constantly. Lists are ordered sequences — think rows in a spreadsheet. Dictionaries are key-value pairs — think a real dictionary where you look up a word to find its definition. When we get to Pandas DataFrames tomorrow, you'll see they're basically fancy dictionaries of lists.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makes these mistakes. I still make some of them. The point isn't to memorize every rule — it's to learn to read error messages. Python's error messages are actually pretty helpful once you get used to them. "IndentationError" means your spaces are wrong. "NameError" means you used a variable that doesn't exist. Read the error, fix the 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first class. You now have a working Python environment and you've written real code. The homework is on Kaggle — it's interactive, gives you instant feedback, and doesn't require any setup. The third task is a preview of tomorrow — try loading a CSV file. If it breaks, that's fine. We'll cover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Yesterday you learned base Python. Today we add two libraries that turn Python into a data science powerhouse. NumPy handles numerical computation. Pandas handles tabular data — think Excel but programmable and a thousand times more powerful. By the end of today, you'll load a real dataset and answer questions about it using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NumPy stands for Numerical Python. Its main contribution is the array — a data structure optimized for math. Python lists are flexible but slow for number crunching. NumPy arrays store data in contiguous memory and let you operate on millions of numbers in one line. Every ML library — Pandas, Sklearn, TensorFlow — is built on top of NumPy.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1D array is just a list of numbers. A 2D array is a table — rows and columns. Think of a spreadsheet: each row is a customer, each column is a feature like age, income, data usage. The shape attribute tells you how many rows and columns you have. You'll use shape constantly to sanity-check your data.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where NumPy shines. Instead of writing a loop to multiply each number by 2, you just write `arr * 2` and NumPy does it all at once. Same for finding the mean, sum, or standard deviation. Boolean indexing is especially powerful — give it a condition and it returns only the elements that match. No loop, no if statement.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NumPy is the engine, Pandas is the car. You'll rarely use NumPy directly in data analysis — Pandas wraps it in a much friendlier interface. The DataFrame is the object you'll work with 90% of the time. It's a table with named columns and rows, and it comes with hundreds of built-in methods for filtering, grouping, merging, and summarizing data.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load real data. I'll use the Superstore dataset — it has sales records with categories, regions, and amounts. First thing after loading: always inspect. Head shows you the first rows so you know what it looks like. Shape tells you size. Info shows types and missing values. Describe gives you stats. This is your standard first-five-minutes workflow with any new dataset.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your data is loaded, you need to slice it. Selecting a single column gives you a Series. Selecting multiple columns gives you a smaller DataFrame. Filtering is the most common operation — you write a condition inside brackets and Pandas returns only the rows that match. Think of it as SQL's WHERE clause but in Python.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data analysis actually works. Someone asks a question, you translate it into a filter, and the data gives you the answer. Let's try a few. How many orders had negative profit? Which category is most profitable? You can answer these in one line each.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Groupby is where Pandas becomes really powerful. Instead of filtering one category at a time, you group by a column and apply a function to each group. Average sales by region? One line. Total profit by product category? One line. If you've used pivot tables in Excel, this is the same concept but more flexible.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these. Total sales by region — one line. Now sort it to see which region is biggest. Average profit by category — and suddenly you see that Furniture barely makes money while Technology is a gold mine. This is the power of aggregation — patterns emerge from raw data.</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Perfect data doesn't exist. Every real dataset has missing values — someone didn't fill out a form, a sensor failed, a column wasn't required. You need to detect and handle these gaps. For now, know the basics — isnull to find them, dropna to remove rows with gaps, fillna to substitute a value. The right strategy depends on the situation, which we'll cover in the data preparation module.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You're not limited to the columns that came in the CSV. You can create new ones from existing data. Profit margin from profit and sales. A flag for whether an order was profitable. This is the beginning of feature engineering — creating useful inputs for ML models. We'll do a lot more of this in Module 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cheat sheet you'll keep coming back to. You don't need to memorize all of this — the goal today is to know these operations exist so you can look them up when you need them. Bookmark this slide or take a screenshot.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NumPy and Pandas are the two libraries you'll use in every single project going forward. The Kaggle course gives you interactive exercises with instant feedback — do at least the first three lessons. For the activity, run the inspection commands on the Superstore dataset and write down what you notice. Any surprises in the data? Missing values? Weird distributions? That's the start of EDA.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Numbers in a table are hard to interpret. A chart makes the pattern obvious in seconds. Today we learn two plotting libraries — Matplotlib is the low-level workhorse, Seaborn builds beautiful statistical charts on top of it. By the end of class, you'll be able to create histograms, scatter plots, bar charts, box plots, and heatmaps.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Anscombe's Quartet — four datasets that have the exact same mean, variance, and correlation. But look at the plots. They're completely different. One is a line, one is a curve, one has an outlier pulling the stats. This is why we plot. The numbers tell you what the data says on average. The plot tells you what the data actually looks like.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chart you should bookmark. The question "which chart do I use?" comes up every time. The answer depends on what you're trying to show. One variable's distribution? Histogram. Two variables' relationship? Scatter. Comparing groups? Bar chart. Over time, this becomes intuition, but for now, use this as a decision tree.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Matplotlib is the original Python plotting library. It's not the prettiest by default, but it's incredibly flexible. You can customize every pixel if you want. The basic pattern is simple — call a plot function, add labels, call show. For fancier layouts, use the subplots approach — it gives you a figure and axes objects you can control independently.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build our first real plot. A histogram of sales values. Notice how most orders are small — under $500 — but there's a long tail of big orders. That's called a right skew. If we change the number of bins, watch how the shape changes. Too few bins and it looks flat. Too many and it's noisy. Around 30 usually works.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Bar charts compare quantities across categories. Which product category brings the most revenue? Which region sells the most? Always sort your bars — it's easier to read. Unsorted bar charts are one of the most common visualization mistakes.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Scatter plots show the relationship between two numeric variables. Here, Sales vs Profit. If every sale were equally profitable, you'd see a straight diagonal line. But look — there are dots below zero. Some sales actually lose money. Color them by category and you might see which categories have this problem. This is exploratory analysis in action.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 plots pack a lot of information into a small space. The line in the middle is the median — half the data is above, half below. The box covers the middle 50%. The whiskers extend to the rest, and dots beyond them are outliers. When you put multiple box plots side by side, you can instantly compare distributions across groups.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heatmap of the correlation matrix shows you at a glance which variables move together. Red means positive correlation — when one goes up, the other does too. Blue means negative. Look at Discount and Profit — negative correlation. Higher discounts, lower profit. That's a real business insight from one line of code.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Matplotlib can do everything, but it often needs 10 lines of code to look good. Seaborn makes common statistical plots in one line and they look great by default. It also understands DataFrames directly — you pass column names as strings instead of extracting arrays. Use Matplotlib for custom plots, Seaborn for standard analysis charts.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chart without labels is useless. Always add a title that tells the viewer what they're looking at, and label your axes with units. When you're making charts for a report or presentation, save them at 300 DPI for crisp images. Subplots let you put multiple charts side by side — great for comparing related views.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your first visualization activity from the professor's curriculum. You'll create five charts, each targeting a different question about the data. The interpretation part is key — a chart without a sentence explaining what it shows is just a picture. What pattern do you see? What does it mean for the business? Start in class, finish as homework.</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this real. I'll give you a question, you tell me what chart type fits. Tashkent metro ridership by hour — line chart, because it's a trend over time. Regional internet access — bar chart or choropleth map. Customer complaints by type — bar chart. Export trends — line chart. Spending vs literacy — scatter plot. See how the question dictates the chart?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now have 5 chart types in your toolkit. That covers about 80% of what you'll need in data analysis. The Kaggle course will reinforce this with hands-on exercises. For the activity, make your charts clean and interpreted — imagine you're showing them to a manager who doesn't know Python.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Math class. Before you panic — we're not doing proofs. We're building intuition. Linear algebra is the language that ML algorithms speak. When you train a model, it's doing matrix multiplication under the hood. When you compute a prediction, it's a dot product. Today you'll understand what those words mean and why they matter. Intuition first, formulas second.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Forget the physics definition for now. In data science, a vector is a list of numbers that describes something. A customer has an age, an income, and a monthly data usage — that's a 3D vector. Each number is a feature. Every row in your Pandas DataFrame is a vector. When we say "feature vector," this is what we mean.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this concrete. Two Uztelecom customers. One is 22, earns 2 million sum, uses 30GB. The other is 45, earns 8 million, uses 5GB. Plot them in 3D space and they're far apart. Now imagine 10,000 customers plotted like this. You'd see clusters — groups of similar people. That's literally what unsupervised learning does. The math we're learning today makes that possible.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basic operations. Adding vectors means combining them — element by element. Scaling means multiplying every element by the same number. Magnitude tells you the length of the vector — how far the point is from the origin. These are simple operations, but they power everything from normalizing data to computing distances in k-nearest neighbors.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dot product is one of the most important operations in ML. Multiply each pair of elements and sum the results. Geometrically, it tells you how similar two vectors are in direction. If two customer profiles point in the same direction in feature space, their dot product is large. If they're unrelated, it's near zero. Cosine similarity, which you'll use in NLP and recommendation systems, is just a normalized dot product.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matrix is just a table of numbers. Your Pandas DataFrame? That's a matrix with labels. When you loaded the Superstore dataset, you were looking at a matrix. The shape — 3 rows, 4 columns — is a 3x4 matrix. ML algorithms don't see column names or row labels. They see a matrix of numbers and operate on it. That's why we convert everything to numbers before modeling.</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Matrix multiplication is where most students get confused, so let's go slow. You take each row from the first matrix and compute its dot product with each column from the second matrix. The result goes in the corresponding position of the output matrix. The key rule: the inner dimensions must match. 3x4 times 4x2 works. 3x4 times 3x2 doesn't.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prediction a linear model makes is a matrix multiplication. Your feature matrix X times a weight vector w gives you predictions. Neural networks? Same thing, stacked in layers. The reason GPUs are used for deep learning isn't graphics — it's because GPUs can do thousands of matrix multiplications in parallel. When you hear "this model has 7 billion parameters," those parameters are weights in matrices.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don't need to do matrix multiplication by hand. NumPy does it in one line. The @ operator is the cleanest way. Transpose flips rows and columns — you'll use this constantly for reshaping data. The identity matrix is like multiplying by 1 — it doesn't change anything. And the inverse undoes a matrix transformation. These come up in linear regression's closed-form solution.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professor's Activity 3. You'll take 5 hypothetical Uzbek telecom customers, represent them as vectors, and use dot products to measure similarity. This directly connects to how recommendation systems and clustering algorithms work. Start in class, finish as homework.</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matters from today. You don't need to hand-compute matrix multiplications on an exam. You need to understand that when your model makes a prediction, it's multiplying your features by learned weights. When it measures similarity, it's computing dot products. When it processes a dataset, it's doing matrix operations. The intuition is what makes you a better ML practitioner.</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3Blue1Brown videos are the best visual explanation of linear algebra ever made. Chapters 1 through 4 are required — they'll reinforce everything we covered today with beautiful animations. Watch them before the next class, because we're moving to calculus and probability next, and the linear algebra intuition carries over.</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math class. Today we cover three topics that underpin all of machine learning: calculus tells us how to minimize errors, probability tells us how to reason under uncertainty, and statistics tells us how to summarize and test claims about data. We're going for intuition, not rigor.</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derivative is just the slope of a curve at a specific point. If you're driving and the speedometer says 80 km/h, that's the derivative of your position with respect to time — how fast your position is changing right now. For ML, we care about how fast the error is changing as we adjust the model's parameters. That slope tells us which direction to adjust.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gradient descent makes sense, you need the loss function. It's a formula that scores how bad your model is. Take your predictions, subtract the real values, square the differences, and average them. That's MSE. The key insight: the loss depends on your model's parameters. Change the parameters, the loss changes. We want to find the parameters that make the loss as small as possible.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Gradient descent is how ML models learn. Imagine you're blindfolded on a hilly landscape and you need to find the lowest valley. You feel the slope under your feet. If it's tilting left, you step left. If it's tilting right, you step right. Each step takes you a bit lower. That's gradient descent. The gradient is the slope, the learning rate is your step size. This is literally what happens millions of times when you train a neural network.</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this concrete. You have apartment sizes and monthly rents in Tashkent. You want a formula that predicts rent from size. Start with a random line — it's probably way off. Compute the loss — how far the line is from the actual data. Compute the gradient — which direction should you tilt the line? Adjust. Repeat. After enough iterations, the line fits the data. That's linear regression trained with gradient descent.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rent example, the loss depends on both w (slope) and b (intercept). The partial derivative with respect to w tells you how the loss changes if you nudge w. The partial derivative with respect to b tells you the same for b. The gradient is just both of these packed into a vector. It points uphill, so we go in the opposite direction. Real neural networks have millions of parameters, but the principle is the same.</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 models don't give you yes or no — they give you probabilities. A churn model says "this customer has a 73% probability of leaving." A spam filter says "this email is 94% spam." To understand what those numbers mean and when to trust them, you need basic probability. It's not complicated — probability is just a fraction of favorable outcomes over total outcomes. The interesting part is combining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distribution tells you the pattern of possible outcomes. Roll a die — each number is equally likely, that's uniform. Measure heights of 1000 Uzbek university students — most are near the average, fewer are very tall or very short, that's a normal distribution. In ML, we assume our data comes from some distribution, and our job is to learn what that distribution looks like.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normal distribution is the most important distribution in statistics. It shows up everywhere — test scores, measurement errors, biological traits. It's defined by just two numbers: the mean and the standard deviation. The 68-95-99.7 rule is a quick way to remember how data spreads. And the Central Limit Theorem is almost magical — even if your raw data isn't normal, the average of samples from it will be.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 theorem is how you update your beliefs with new evidence. You start with a prior — your initial belief. Then you get evidence, and Bayes tells you the posterior — your updated belief. In our example, the base churn rate is 15%. But if a customer has complained, the probability jumps to 36%. This is the foundation of Bayesian classification and spam filters.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stats you already computed with Pandas describe(). Mean tells you the center but gets pulled by outliers. Median is more robust. Standard deviation tells you the spread — small means tightly packed, large means scattered. Percentiles divide your data into chunks. The box plots from last class? Those are built from percentiles. Now you know the math behind the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Hypothesis testing asks: "Is this result real or did I get lucky?" The null hypothesis says nothing is happening — any pattern is just noise. The p-value tells you how likely you'd see your result by pure chance. Below 0.05, we call it significant. In ML, you'll use this to decide if a feature matters, if a model improvement is real, or if A/B test results are trustworthy. You don't need to compute p-values by hand — Python does it — but you need to understand what they mean.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step back. Linear algebra is how we represent and transform data. Calculus is how models learn from mistakes. Probability is how models express uncertainty. Statistics is how we validate results. You don't need to be a mathematician, but understanding these concepts means you'll know what's happening inside the black box. That's the difference between using ML and understanding ML.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class is the lab — we're putting everything together. You'll do a full exploratory data analysis combining Pandas, visualizations, and basic statistics. We'll also cover Google Cloud at a conceptual level and kick off Activity 4, which is customer segmentation. Come prepared with your Colab environment ready and the dataset loaded.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day. Today is about applying everything from this module. We'll start with a quick recap of the EDA workflow, then I'll give you a conceptual tour of Google Cloud tools for data science, and then we'll spend the bulk of the time on Activity 4 — customer segmentation. This is where linear algebra meets Pandas meets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start the lab, let's formalize the EDA process. These five steps are what you do every time you get a new dataset. Load it, inspect it, clean it, visualize it, summarize what you found. This isn't a rigid checklist — it's iterative. You'll often go back and forth between steps as you discover things.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Print this out or save it. Every time you start a new project, run through this list. It takes 15 minutes and saves you hours of debugging later. The number of ML models that fail because someone didn't check for missing values or outliers is staggering.</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been using Google Colab, which runs on Google's cloud. But Google Cloud Platform is much bigger. BigQuery lets you run SQL on datasets with billions of rows without managing any servers. Vertex AI lets you train and deploy ML models at scale. Cloud Storage is like Google Drive but for big data. You won't use these hands-on today, but understanding what's available is important.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BigQuery is Google's flagship data tool. Imagine running a SQL query on a table with 100 million rows and getting the result in 5 seconds. No database to install, no cluster to manage. You just write SQL. The free tier is generous enough for learning. In a real telecom company, this is how you'd analyze call records, customer behavior, network logs at scale.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Vertex AI is where Google Cloud and ML meet. It supports two modes: AutoML, where you upload data and it builds a model for you, and custom training, where you write your own code. We'll use it in later modules when we deploy models. For now, just know it exists and what it can do. The professor wants you to explore it through Google Skills Boost.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professor requires one Google Skills Boost course per module. For Module 2, it's "Google Cloud Big Data and Machine Learning Fundamentals." It's free, takes about 8 hours total, and gives you hands-on experience with BigQuery, Cloud Storage, and Vertex AI. You earn a badge when you finish. Do it this week — it's required, not optional.</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big activity for Module 2. It brings together Pandas, visualization, linear algebra concepts, and basic statistics. You're playing the role of a data analyst at a telecom company. The manager doesn't care about code — they want to know who the customer segments are and what to do about them. Your deliverable is a notebook with charts and a written summary. Start now, finish as homework.</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do the first two steps together so everyone's on the same page. Load the data, run the inspection commands. Now — what chart would you make first? Think about what question you're trying to answer. I'll give you 20 minutes to work independently. I'll walk around and help. Don't worry about making it perfect — the goal is exploration.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you make your scatter plots, look for natural groupings. Are there dots that cluster together? Maybe you see a group of heavy data users who spend a lot — those are your premium customers. Another group uses mostly voice calls and spends less. A third group barely uses the service at all — those might be about to churn. The key is: each segment should lead to an action. Premium users get loyalty rewards. At-risk users get a retention call.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narration — walk around, help students, answer questions. Monitor progress and provide individual guidance.)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hear what you found. Who wants to share their screen? I want to see your charts and hear your interpretation. There's no single right answer — different people might see different patterns. That's normal in data analysis. The important thing is that your interpretation is supported by the data.</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zoom out. In two weeks, you went from opening Colab for the first time to doing exploratory data analysis with real data and understanding the math behind ML. That's a lot. You don't need to have everything memorized — you need to know where to look and what the concepts mean. These foundations will carry you through every module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final deliverable for Module 2 is the Activity 4 notebook — clean, well-documented, with charts that tell a story. Also finish the Google Skills Boost course if you haven't already. Module 3 starts with data cleaning — missing values, outliers, encoding — all the messy stuff that real data throws at you. The tools you learned this module are exactly what you'll use.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Any questions before we wrap up? If something from the math classes didn't fully click, watch the 3Blue1Brown videos again — they explain it better than anyone. If the Python side is shaky, the Kaggle courses have infinite exercises. You're building the foundation for everything that comes next. See you in Module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Module 2: Programming and Mathematical Foundations</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r>
              <a:t>UN AI/ML Mentorship Program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1: Python Crash Course + Environment Setup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Python for Data Science — Getting Started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2, Class 1</a:t>
            </a:r>
          </a:p>
          <a:p>
            <a:pPr>
              <a:spcAft>
                <a:spcPts val="800"/>
              </a:spcAft>
              <a:defRPr sz="1600">
                <a:solidFill>
                  <a:srgbClr val="333333"/>
                </a:solidFill>
              </a:defRPr>
            </a:pPr>
            <a:r>
              <a:t>Setting up your environment</a:t>
            </a:r>
          </a:p>
          <a:p>
            <a:pPr>
              <a:spcAft>
                <a:spcPts val="800"/>
              </a:spcAft>
              <a:defRPr sz="1600">
                <a:solidFill>
                  <a:srgbClr val="333333"/>
                </a:solidFill>
              </a:defRPr>
            </a:pPr>
            <a:r>
              <a:t>Python fundamentals: variables, types, control flow, functions</a:t>
            </a:r>
          </a:p>
          <a:p>
            <a:pPr>
              <a:spcAft>
                <a:spcPts val="800"/>
              </a:spcAft>
              <a:defRPr sz="1600">
                <a:solidFill>
                  <a:srgbClr val="333333"/>
                </a:solidFill>
              </a:defRPr>
            </a:pPr>
            <a:r>
              <a:t>Today's goal: write your first Python code in Google Colab</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with Python logo, Google Colab icon, module/class number.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Why Python Dominates Data Science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Most popular language for ML/AI (used by Google, Meta, OpenAI)</a:t>
            </a:r>
          </a:p>
          <a:p>
            <a:pPr>
              <a:spcAft>
                <a:spcPts val="800"/>
              </a:spcAft>
              <a:defRPr sz="1600">
                <a:solidFill>
                  <a:srgbClr val="333333"/>
                </a:solidFill>
              </a:defRPr>
            </a:pPr>
            <a:r>
              <a:t>Readable syntax — closest to writing in English</a:t>
            </a:r>
          </a:p>
          <a:p>
            <a:pPr>
              <a:spcAft>
                <a:spcPts val="800"/>
              </a:spcAft>
              <a:defRPr sz="1600">
                <a:solidFill>
                  <a:srgbClr val="333333"/>
                </a:solidFill>
              </a:defRPr>
            </a:pPr>
            <a:r>
              <a:t>Massive ecosystem: NumPy, Pandas, Scikit-learn, TensorFlow, PyTorch</a:t>
            </a:r>
          </a:p>
          <a:p>
            <a:pPr>
              <a:spcAft>
                <a:spcPts val="800"/>
              </a:spcAft>
              <a:defRPr sz="1600">
                <a:solidFill>
                  <a:srgbClr val="333333"/>
                </a:solidFill>
              </a:defRPr>
            </a:pPr>
            <a:r>
              <a:t>Free, open-source, huge community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Bar chart — programming language popularity in data science (Python, R, SQL, Julia). Source: Stack Overflow Developer Survey or TIOBE index.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Google Colab — Free Cloud Notebooks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No installation needed — runs in your browser</a:t>
            </a:r>
          </a:p>
          <a:p>
            <a:pPr>
              <a:spcAft>
                <a:spcPts val="800"/>
              </a:spcAft>
              <a:defRPr sz="1600">
                <a:solidFill>
                  <a:srgbClr val="333333"/>
                </a:solidFill>
              </a:defRPr>
            </a:pPr>
            <a:r>
              <a:t>Free GPU access for ML experiments later</a:t>
            </a:r>
          </a:p>
          <a:p>
            <a:pPr>
              <a:spcAft>
                <a:spcPts val="800"/>
              </a:spcAft>
              <a:defRPr sz="1600">
                <a:solidFill>
                  <a:srgbClr val="333333"/>
                </a:solidFill>
              </a:defRPr>
            </a:pPr>
            <a:r>
              <a:t>Built-in Python libraries (NumPy, Pandas, Matplotlib pre-installed)</a:t>
            </a:r>
          </a:p>
          <a:p>
            <a:pPr>
              <a:spcAft>
                <a:spcPts val="800"/>
              </a:spcAft>
              <a:defRPr sz="1600">
                <a:solidFill>
                  <a:srgbClr val="333333"/>
                </a:solidFill>
              </a:defRPr>
            </a:pPr>
            <a:r>
              <a:t>Saves to Google Drive automatically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Screenshot of Google Colab interface — empty notebook with a code cell. Annotate: "Code cell," "Text cell," "Run button," "File menu."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Let's Open Our First Notebook</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Go to colab.research.google.com</a:t>
            </a:r>
          </a:p>
          <a:p>
            <a:pPr>
              <a:spcAft>
                <a:spcPts val="800"/>
              </a:spcAft>
              <a:defRPr sz="1600">
                <a:solidFill>
                  <a:srgbClr val="333333"/>
                </a:solidFill>
              </a:defRPr>
            </a:pPr>
            <a:r>
              <a:t>Click "New Notebook"</a:t>
            </a:r>
          </a:p>
          <a:p>
            <a:pPr>
              <a:spcAft>
                <a:spcPts val="800"/>
              </a:spcAft>
              <a:defRPr sz="1600">
                <a:solidFill>
                  <a:srgbClr val="333333"/>
                </a:solidFill>
              </a:defRPr>
            </a:pPr>
            <a:r>
              <a:t>Rename it: "Module2_Class1_YourName"</a:t>
            </a:r>
          </a:p>
          <a:p>
            <a:pPr>
              <a:spcAft>
                <a:spcPts val="800"/>
              </a:spcAft>
              <a:defRPr sz="1600">
                <a:solidFill>
                  <a:srgbClr val="333333"/>
                </a:solidFill>
              </a:defRPr>
            </a:pPr>
            <a:r>
              <a:t>Type `print("Salom, dunyo!")` and hit Shift+Enter</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 Colab interface.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The Building Blocks: Data Types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int — whole numbers: `age = 22`</a:t>
            </a:r>
          </a:p>
          <a:p>
            <a:pPr>
              <a:spcAft>
                <a:spcPts val="800"/>
              </a:spcAft>
              <a:defRPr sz="1600">
                <a:solidFill>
                  <a:srgbClr val="333333"/>
                </a:solidFill>
              </a:defRPr>
            </a:pPr>
            <a:r>
              <a:t>float — decimals: `gpa = 3.85`</a:t>
            </a:r>
          </a:p>
          <a:p>
            <a:pPr>
              <a:spcAft>
                <a:spcPts val="800"/>
              </a:spcAft>
              <a:defRPr sz="1600">
                <a:solidFill>
                  <a:srgbClr val="333333"/>
                </a:solidFill>
              </a:defRPr>
            </a:pPr>
            <a:r>
              <a:t>str — text: `name = "Nodira"`</a:t>
            </a:r>
          </a:p>
          <a:p>
            <a:pPr>
              <a:spcAft>
                <a:spcPts val="800"/>
              </a:spcAft>
              <a:defRPr sz="1600">
                <a:solidFill>
                  <a:srgbClr val="333333"/>
                </a:solidFill>
              </a:defRPr>
            </a:pPr>
            <a:r>
              <a:t>bool — True/False: `is_student = True`</a:t>
            </a:r>
          </a:p>
          <a:p>
            <a:pPr>
              <a:spcAft>
                <a:spcPts val="800"/>
              </a:spcAft>
              <a:defRPr sz="1600">
                <a:solidFill>
                  <a:srgbClr val="333333"/>
                </a:solidFill>
              </a:defRPr>
            </a:pPr>
            <a:r>
              <a:t>list — ordered collection: `cities = ["Tashkent", "Samarkand", "Bukhara"]`</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Data types pyramid — simple types (int, float, str, bool) at the base, collections (list, dict, tuple) above, with examples beside each level.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Variables — Naming Your Data</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 variable is a label that points to a value</a:t>
            </a:r>
          </a:p>
          <a:p>
            <a:pPr>
              <a:spcAft>
                <a:spcPts val="800"/>
              </a:spcAft>
              <a:defRPr sz="1600">
                <a:solidFill>
                  <a:srgbClr val="333333"/>
                </a:solidFill>
              </a:defRPr>
            </a:pPr>
            <a:r>
              <a:t>`population = 35_000_000` — Uzbekistan's population</a:t>
            </a:r>
          </a:p>
          <a:p>
            <a:pPr>
              <a:spcAft>
                <a:spcPts val="800"/>
              </a:spcAft>
              <a:defRPr sz="1600">
                <a:solidFill>
                  <a:srgbClr val="333333"/>
                </a:solidFill>
              </a:defRPr>
            </a:pPr>
            <a:r>
              <a:t>`capital = "Tashkent"`</a:t>
            </a:r>
          </a:p>
          <a:p>
            <a:pPr>
              <a:spcAft>
                <a:spcPts val="800"/>
              </a:spcAft>
              <a:defRPr sz="1600">
                <a:solidFill>
                  <a:srgbClr val="333333"/>
                </a:solidFill>
              </a:defRPr>
            </a:pPr>
            <a:r>
              <a:t>Naming rules: start with letter/underscore, no spaces, case-sensitive</a:t>
            </a:r>
          </a:p>
          <a:p>
            <a:pPr>
              <a:spcAft>
                <a:spcPts val="800"/>
              </a:spcAft>
              <a:defRPr sz="1600">
                <a:solidFill>
                  <a:srgbClr val="333333"/>
                </a:solidFill>
              </a:defRPr>
            </a:pPr>
            <a:r>
              <a:t>Use descriptive names: `student_count` not `x`</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Diagram — variable name on the left with an arrow pointing to a box containing the value in memory. Show 2-3 examples stacked.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Hands-On: Variables and Types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Create variables for: your name, age, city, GPA</a:t>
            </a:r>
          </a:p>
          <a:p>
            <a:pPr>
              <a:spcAft>
                <a:spcPts val="800"/>
              </a:spcAft>
              <a:defRPr sz="1600">
                <a:solidFill>
                  <a:srgbClr val="333333"/>
                </a:solidFill>
              </a:defRPr>
            </a:pPr>
            <a:r>
              <a:t>Use `type()` to check what Python thinks</a:t>
            </a:r>
          </a:p>
          <a:p>
            <a:pPr>
              <a:spcAft>
                <a:spcPts val="800"/>
              </a:spcAft>
              <a:defRPr sz="1600">
                <a:solidFill>
                  <a:srgbClr val="333333"/>
                </a:solidFill>
              </a:defRPr>
            </a:pPr>
            <a:r>
              <a:t>Try arithmetic: `birth_year = 2026 - age`</a:t>
            </a:r>
          </a:p>
          <a:p>
            <a:pPr>
              <a:spcAft>
                <a:spcPts val="800"/>
              </a:spcAft>
              <a:defRPr sz="1600">
                <a:solidFill>
                  <a:srgbClr val="333333"/>
                </a:solidFill>
              </a:defRPr>
            </a:pPr>
            <a:r>
              <a:t>String concatenation: `greeting = "Salom, " + name`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Making Decisions in Code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`if` checks a condition and runs code if True</a:t>
            </a:r>
          </a:p>
          <a:p>
            <a:pPr>
              <a:spcAft>
                <a:spcPts val="800"/>
              </a:spcAft>
              <a:defRPr sz="1600">
                <a:solidFill>
                  <a:srgbClr val="333333"/>
                </a:solidFill>
              </a:defRPr>
            </a:pPr>
            <a:r>
              <a:t>`elif` (else if) — additional conditions</a:t>
            </a:r>
          </a:p>
          <a:p>
            <a:pPr>
              <a:spcAft>
                <a:spcPts val="800"/>
              </a:spcAft>
              <a:defRPr sz="1600">
                <a:solidFill>
                  <a:srgbClr val="333333"/>
                </a:solidFill>
              </a:defRPr>
            </a:pPr>
            <a:r>
              <a:t>`else` — everything that didn't match</a:t>
            </a:r>
          </a:p>
          <a:p>
            <a:pPr>
              <a:spcAft>
                <a:spcPts val="800"/>
              </a:spcAft>
              <a:defRPr sz="1600">
                <a:solidFill>
                  <a:srgbClr val="333333"/>
                </a:solidFill>
              </a:defRPr>
            </a:pPr>
            <a:r>
              <a:t>Indentation matters — Python uses it to define code blocks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Flowchart — diamond shape for condition, two branches (True/False), each leading to an action box. Map it to the code example.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Let's Write Decision Logic</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Grade checker: input a score, output a letter grade</a:t>
            </a:r>
          </a:p>
          <a:p>
            <a:pPr>
              <a:spcAft>
                <a:spcPts val="800"/>
              </a:spcAft>
              <a:defRPr sz="1600">
                <a:solidFill>
                  <a:srgbClr val="333333"/>
                </a:solidFill>
              </a:defRPr>
            </a:pPr>
            <a:r>
              <a:t>90+ = A, 80+ = B, 70+ = C, below 70 = F</a:t>
            </a:r>
          </a:p>
          <a:p>
            <a:pPr>
              <a:spcAft>
                <a:spcPts val="800"/>
              </a:spcAft>
              <a:defRPr sz="1600">
                <a:solidFill>
                  <a:srgbClr val="333333"/>
                </a:solidFill>
              </a:defRPr>
            </a:pPr>
            <a:r>
              <a:t>Extend: add a message for each grade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Repeating Actions — Loops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`for` loop — iterate over a sequence (list, range, string)</a:t>
            </a:r>
          </a:p>
          <a:p>
            <a:pPr>
              <a:spcAft>
                <a:spcPts val="800"/>
              </a:spcAft>
              <a:defRPr sz="1600">
                <a:solidFill>
                  <a:srgbClr val="333333"/>
                </a:solidFill>
              </a:defRPr>
            </a:pPr>
            <a:r>
              <a:t>`while` loop — repeat as long as a condition is True</a:t>
            </a:r>
          </a:p>
          <a:p>
            <a:pPr>
              <a:spcAft>
                <a:spcPts val="800"/>
              </a:spcAft>
              <a:defRPr sz="1600">
                <a:solidFill>
                  <a:srgbClr val="333333"/>
                </a:solidFill>
              </a:defRPr>
            </a:pPr>
            <a:r>
              <a:t>`range(n)` generates numbers 0 to n-1</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Loop animation concept — a circular arrow showing iteration, with each pass highlighting the next item in the list.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Loop Exercises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Loop through a list of Uzbek cities and print each</a:t>
            </a:r>
          </a:p>
          <a:p>
            <a:pPr>
              <a:spcAft>
                <a:spcPts val="800"/>
              </a:spcAft>
              <a:defRPr sz="1600">
                <a:solidFill>
                  <a:srgbClr val="333333"/>
                </a:solidFill>
              </a:defRPr>
            </a:pPr>
            <a:r>
              <a:t>Use `range(1, 11)` to print numbers 1 to 10</a:t>
            </a:r>
          </a:p>
          <a:p>
            <a:pPr>
              <a:spcAft>
                <a:spcPts val="800"/>
              </a:spcAft>
              <a:defRPr sz="1600">
                <a:solidFill>
                  <a:srgbClr val="333333"/>
                </a:solidFill>
              </a:defRPr>
            </a:pPr>
            <a:r>
              <a:t>Calculate the sum of numbers 1 to 100 using a loop</a:t>
            </a:r>
          </a:p>
          <a:p>
            <a:pPr>
              <a:spcAft>
                <a:spcPts val="800"/>
              </a:spcAft>
              <a:defRPr sz="1600">
                <a:solidFill>
                  <a:srgbClr val="333333"/>
                </a:solidFill>
              </a:defRPr>
            </a:pPr>
            <a:r>
              <a:t>Bonus: loop through a string character by character</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Functions — Reusable Code Blocks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 function takes inputs, does something, and returns output</a:t>
            </a:r>
          </a:p>
          <a:p>
            <a:pPr>
              <a:spcAft>
                <a:spcPts val="800"/>
              </a:spcAft>
              <a:defRPr sz="1600">
                <a:solidFill>
                  <a:srgbClr val="333333"/>
                </a:solidFill>
              </a:defRPr>
            </a:pPr>
            <a:r>
              <a:t>`def` keyword to define, `return` to send back a result</a:t>
            </a:r>
          </a:p>
          <a:p>
            <a:pPr>
              <a:spcAft>
                <a:spcPts val="800"/>
              </a:spcAft>
              <a:defRPr sz="1600">
                <a:solidFill>
                  <a:srgbClr val="333333"/>
                </a:solidFill>
              </a:defRPr>
            </a:pPr>
            <a:r>
              <a:t>Parameters = inputs, return value = output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Function anatomy diagram — labeled parts: `def` keyword, function name, parameters in parentheses, colon, indented body, `return` statement. Arrows pointing to each part with labels.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Build Your Own Functions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BMI calculator: `def bmi(weight_kg, height_m)`</a:t>
            </a:r>
          </a:p>
          <a:p>
            <a:pPr>
              <a:spcAft>
                <a:spcPts val="800"/>
              </a:spcAft>
              <a:defRPr sz="1600">
                <a:solidFill>
                  <a:srgbClr val="333333"/>
                </a:solidFill>
              </a:defRPr>
            </a:pPr>
            <a:r>
              <a:t>Grade converter from Slide 9, now as a function</a:t>
            </a:r>
          </a:p>
          <a:p>
            <a:pPr>
              <a:spcAft>
                <a:spcPts val="800"/>
              </a:spcAft>
              <a:defRPr sz="1600">
                <a:solidFill>
                  <a:srgbClr val="333333"/>
                </a:solidFill>
              </a:defRPr>
            </a:pPr>
            <a:r>
              <a:t>Function that takes a list of numbers and returns the average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Collections: Lists and Dictionaries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List: Ordered, indexed, mutable — `scores = [85, 92, 78, 95]`</a:t>
            </a:r>
          </a:p>
          <a:p>
            <a:pPr>
              <a:spcAft>
                <a:spcPts val="800"/>
              </a:spcAft>
              <a:defRPr sz="1600">
                <a:solidFill>
                  <a:srgbClr val="333333"/>
                </a:solidFill>
              </a:defRPr>
            </a:pPr>
            <a:r>
              <a:t>Dictionary: Key-value pairs — `student = {"name": "Aziz", "age": 21, "city": "Fergana"}`</a:t>
            </a:r>
          </a:p>
          <a:p>
            <a:pPr>
              <a:spcAft>
                <a:spcPts val="800"/>
              </a:spcAft>
              <a:defRPr sz="1600">
                <a:solidFill>
                  <a:srgbClr val="333333"/>
                </a:solidFill>
              </a:defRPr>
            </a:pPr>
            <a:r>
              <a:t>List: access by position `scores[0]` → 85</a:t>
            </a:r>
          </a:p>
          <a:p>
            <a:pPr>
              <a:spcAft>
                <a:spcPts val="800"/>
              </a:spcAft>
              <a:defRPr sz="1600">
                <a:solidFill>
                  <a:srgbClr val="333333"/>
                </a:solidFill>
              </a:defRPr>
            </a:pPr>
            <a:r>
              <a:t>Dict: access by key `student["name"]` → "Aziz"</a:t>
            </a:r>
          </a:p>
          <a:p>
            <a:pPr>
              <a:spcAft>
                <a:spcPts val="800"/>
              </a:spcAft>
              <a:defRPr sz="1600">
                <a:solidFill>
                  <a:srgbClr val="333333"/>
                </a:solidFill>
              </a:defRPr>
            </a:pPr>
            <a:r>
              <a:t>Both are everywhere in data science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Side-by-side comparison — List as a numbered column, Dictionary as a two-column table (key | value).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Mistakes You'll Make (And That's Fine)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Forgetting the colon after `if`, `for`, `def`</a:t>
            </a:r>
          </a:p>
          <a:p>
            <a:pPr>
              <a:spcAft>
                <a:spcPts val="800"/>
              </a:spcAft>
              <a:defRPr sz="1600">
                <a:solidFill>
                  <a:srgbClr val="333333"/>
                </a:solidFill>
              </a:defRPr>
            </a:pPr>
            <a:r>
              <a:t>Wrong indentation — Python is strict about this</a:t>
            </a:r>
          </a:p>
          <a:p>
            <a:pPr>
              <a:spcAft>
                <a:spcPts val="800"/>
              </a:spcAft>
              <a:defRPr sz="1600">
                <a:solidFill>
                  <a:srgbClr val="333333"/>
                </a:solidFill>
              </a:defRPr>
            </a:pPr>
            <a:r>
              <a:t>Using `=` (assignment) instead of `==` (comparison)</a:t>
            </a:r>
          </a:p>
          <a:p>
            <a:pPr>
              <a:spcAft>
                <a:spcPts val="800"/>
              </a:spcAft>
              <a:defRPr sz="1600">
                <a:solidFill>
                  <a:srgbClr val="333333"/>
                </a:solidFill>
              </a:defRPr>
            </a:pPr>
            <a:r>
              <a:t>Index out of range — lists start at 0, not 1</a:t>
            </a:r>
          </a:p>
          <a:p>
            <a:pPr>
              <a:spcAft>
                <a:spcPts val="800"/>
              </a:spcAft>
              <a:defRPr sz="1600">
                <a:solidFill>
                  <a:srgbClr val="333333"/>
                </a:solidFill>
              </a:defRPr>
            </a:pPr>
            <a:r>
              <a:t>Calling a function without parentheses: `print` vs `print()`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Table — two columns: "What you wrote" vs "What Python expected." Show 4-5 common error examples with the fix.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Set up Google Colab — your data science workspace</a:t>
            </a:r>
          </a:p>
          <a:p>
            <a:pPr>
              <a:spcAft>
                <a:spcPts val="800"/>
              </a:spcAft>
              <a:defRPr sz="1600">
                <a:solidFill>
                  <a:srgbClr val="333333"/>
                </a:solidFill>
              </a:defRPr>
            </a:pPr>
            <a:r>
              <a:t>Python basics: variables, data types, control flow, loops, functions</a:t>
            </a:r>
          </a:p>
          <a:p>
            <a:pPr>
              <a:spcAft>
                <a:spcPts val="800"/>
              </a:spcAft>
              <a:defRPr sz="1600">
                <a:solidFill>
                  <a:srgbClr val="333333"/>
                </a:solidFill>
              </a:defRPr>
            </a:pPr>
            <a:r>
              <a:t>Key takeaway: Python is a tool, not a test. Practice &gt; perfection.</a:t>
            </a:r>
          </a:p>
          <a:p>
            <a:pPr>
              <a:spcAft>
                <a:spcPts val="800"/>
              </a:spcAft>
              <a:defRPr sz="1600">
                <a:solidFill>
                  <a:srgbClr val="333333"/>
                </a:solidFill>
              </a:defRPr>
            </a:pPr>
            <a:r>
              <a:t>Complete Kaggle Python Micro-Course (first 3 lessons)</a:t>
            </a:r>
          </a:p>
          <a:p>
            <a:pPr>
              <a:spcAft>
                <a:spcPts val="800"/>
              </a:spcAft>
              <a:defRPr sz="1600">
                <a:solidFill>
                  <a:srgbClr val="333333"/>
                </a:solidFill>
              </a:defRPr>
            </a:pPr>
            <a:r>
              <a:t>Write 3 functions: temperature converter, list averager, one of your choice</a:t>
            </a:r>
          </a:p>
          <a:p>
            <a:pPr>
              <a:spcAft>
                <a:spcPts val="800"/>
              </a:spcAft>
              <a:defRPr sz="1600">
                <a:solidFill>
                  <a:srgbClr val="333333"/>
                </a:solidFill>
              </a:defRPr>
            </a:pPr>
            <a:r>
              <a:t>[ACTIVITY] Activity 1 Step 1: Open the Superstore dataset in Colab, load it with `pd.read_csv()` (we'll cover Pandas properly next class — just try it)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Checklist graphic with the three homework items. QR code or shortened link to Kaggle Python course.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2: NumPy and Pandas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NumPy and Pandas — Data Tools That Do the Heavy Lifting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2, Class 2</a:t>
            </a:r>
          </a:p>
          <a:p>
            <a:pPr>
              <a:spcAft>
                <a:spcPts val="800"/>
              </a:spcAft>
              <a:defRPr sz="1600">
                <a:solidFill>
                  <a:srgbClr val="333333"/>
                </a:solidFill>
              </a:defRPr>
            </a:pPr>
            <a:r>
              <a:t>NumPy: fast math on arrays</a:t>
            </a:r>
          </a:p>
          <a:p>
            <a:pPr>
              <a:spcAft>
                <a:spcPts val="800"/>
              </a:spcAft>
              <a:defRPr sz="1600">
                <a:solidFill>
                  <a:srgbClr val="333333"/>
                </a:solidFill>
              </a:defRPr>
            </a:pPr>
            <a:r>
              <a:t>Pandas: structured data (tables, CSVs, filtering, aggregation)</a:t>
            </a:r>
          </a:p>
          <a:p>
            <a:pPr>
              <a:spcAft>
                <a:spcPts val="800"/>
              </a:spcAft>
              <a:defRPr sz="1600">
                <a:solidFill>
                  <a:srgbClr val="333333"/>
                </a:solidFill>
              </a:defRPr>
            </a:pPr>
            <a:r>
              <a:t>Today's goal: load, inspect, filter, and summarize a real dataset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with NumPy and Pandas logos side by side.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NumPy — Numerical Python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The foundation of almost every data science library</a:t>
            </a:r>
          </a:p>
          <a:p>
            <a:pPr>
              <a:spcAft>
                <a:spcPts val="800"/>
              </a:spcAft>
              <a:defRPr sz="1600">
                <a:solidFill>
                  <a:srgbClr val="333333"/>
                </a:solidFill>
              </a:defRPr>
            </a:pPr>
            <a:r>
              <a:t>Core object: ndarray (n-dimensional array)</a:t>
            </a:r>
          </a:p>
          <a:p>
            <a:pPr>
              <a:spcAft>
                <a:spcPts val="800"/>
              </a:spcAft>
              <a:defRPr sz="1600">
                <a:solidFill>
                  <a:srgbClr val="333333"/>
                </a:solidFill>
              </a:defRPr>
            </a:pPr>
            <a:r>
              <a:t>Why not just use Python lists? Speed. NumPy arrays are 10-100x faster.</a:t>
            </a:r>
          </a:p>
          <a:p>
            <a:pPr>
              <a:spcAft>
                <a:spcPts val="800"/>
              </a:spcAft>
              <a:defRPr sz="1600">
                <a:solidFill>
                  <a:srgbClr val="333333"/>
                </a:solidFill>
              </a:defRPr>
            </a:pPr>
            <a:r>
              <a:t>Operations apply to entire arrays at once (vectorization)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Speed comparison — bar chart showing time to sum 1 million numbers: Python list loop vs NumPy sum. Show the 50-100x difference.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Arrays — From Lists to Matrices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1D array: `np.array([10, 20, 30, 40])` — like a row of data</a:t>
            </a:r>
          </a:p>
          <a:p>
            <a:pPr>
              <a:spcAft>
                <a:spcPts val="800"/>
              </a:spcAft>
              <a:defRPr sz="1600">
                <a:solidFill>
                  <a:srgbClr val="333333"/>
                </a:solidFill>
              </a:defRPr>
            </a:pPr>
            <a:r>
              <a:t>2D array: `np.array([[1, 2, 3], [4, 5, 6]])` — like a table</a:t>
            </a:r>
          </a:p>
          <a:p>
            <a:pPr>
              <a:spcAft>
                <a:spcPts val="800"/>
              </a:spcAft>
              <a:defRPr sz="1600">
                <a:solidFill>
                  <a:srgbClr val="333333"/>
                </a:solidFill>
              </a:defRPr>
            </a:pPr>
            <a:r>
              <a:t>`.shape` tells you dimensions: (4,) vs (2, 3)</a:t>
            </a:r>
          </a:p>
          <a:p>
            <a:pPr>
              <a:spcAft>
                <a:spcPts val="800"/>
              </a:spcAft>
              <a:defRPr sz="1600">
                <a:solidFill>
                  <a:srgbClr val="333333"/>
                </a:solidFill>
              </a:defRPr>
            </a:pPr>
            <a:r>
              <a:t>Indexing: `arr[0]` for 1D, `arr[0, 1]` for 2D (row, column)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1D array shown as a single horizontal row of boxes with values. 2D array as a grid (2 rows x 3 columns) with row/column indices labeled. Arrows showing how indexing works.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Vectorized Operations — Math Without Loops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Element-wise: `arr * 2` doubles every element</a:t>
            </a:r>
          </a:p>
          <a:p>
            <a:pPr>
              <a:spcAft>
                <a:spcPts val="800"/>
              </a:spcAft>
              <a:defRPr sz="1600">
                <a:solidFill>
                  <a:srgbClr val="333333"/>
                </a:solidFill>
              </a:defRPr>
            </a:pPr>
            <a:r>
              <a:t>Aggregation: `arr.mean()`, `arr.sum()`, `arr.std()`</a:t>
            </a:r>
          </a:p>
          <a:p>
            <a:pPr>
              <a:spcAft>
                <a:spcPts val="800"/>
              </a:spcAft>
              <a:defRPr sz="1600">
                <a:solidFill>
                  <a:srgbClr val="333333"/>
                </a:solidFill>
              </a:defRPr>
            </a:pPr>
            <a:r>
              <a:t>Boolean indexing: `arr[arr &gt; 25]` — filter in one line</a:t>
            </a:r>
          </a:p>
          <a:p>
            <a:pPr>
              <a:spcAft>
                <a:spcPts val="800"/>
              </a:spcAft>
              <a:defRPr sz="1600">
                <a:solidFill>
                  <a:srgbClr val="333333"/>
                </a:solidFill>
              </a:defRPr>
            </a:pPr>
            <a:r>
              <a:t>Broadcasting: NumPy figures out shape mismatches automatically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Before/after diagram — left side shows a Python loop (4 lines of code), right side shows the NumPy one-liner doing the same thing. Highlight the simplicity.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Pandas — Data Analysis Made Simple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Built on top of NumPy</a:t>
            </a:r>
          </a:p>
          <a:p>
            <a:pPr>
              <a:spcAft>
                <a:spcPts val="800"/>
              </a:spcAft>
              <a:defRPr sz="1600">
                <a:solidFill>
                  <a:srgbClr val="333333"/>
                </a:solidFill>
              </a:defRPr>
            </a:pPr>
            <a:r>
              <a:t>Core objects: Series (one column) and DataFrame (full table)</a:t>
            </a:r>
          </a:p>
          <a:p>
            <a:pPr>
              <a:spcAft>
                <a:spcPts val="800"/>
              </a:spcAft>
              <a:defRPr sz="1600">
                <a:solidFill>
                  <a:srgbClr val="333333"/>
                </a:solidFill>
              </a:defRPr>
            </a:pPr>
            <a:r>
              <a:t>Think of a DataFrame as a programmable Excel spreadsheet</a:t>
            </a:r>
          </a:p>
          <a:p>
            <a:pPr>
              <a:spcAft>
                <a:spcPts val="800"/>
              </a:spcAft>
              <a:defRPr sz="1600">
                <a:solidFill>
                  <a:srgbClr val="333333"/>
                </a:solidFill>
              </a:defRPr>
            </a:pPr>
            <a:r>
              <a:t>Reads CSV, Excel, JSON, SQL — almost any data format</a:t>
            </a:r>
          </a:p>
          <a:p>
            <a:pPr>
              <a:spcAft>
                <a:spcPts val="800"/>
              </a:spcAft>
              <a:defRPr sz="1600">
                <a:solidFill>
                  <a:srgbClr val="333333"/>
                </a:solidFill>
              </a:defRPr>
            </a:pPr>
            <a:r>
              <a:t>Named columns and row indices — not just numbers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Pandas DataFrame anatomy — a table with column headers (Name, Age, City, Salary), row index on the left (0, 1, 2...), one column highlighted as a Series. Labels pointing to: "Column names," "Row index," "Values."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Load, Inspect, Understand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`pd.read_csv("file.csv")` — one line to load data</a:t>
            </a:r>
          </a:p>
          <a:p>
            <a:pPr>
              <a:spcAft>
                <a:spcPts val="800"/>
              </a:spcAft>
              <a:defRPr sz="1600">
                <a:solidFill>
                  <a:srgbClr val="333333"/>
                </a:solidFill>
              </a:defRPr>
            </a:pPr>
            <a:r>
              <a:t>`df.head()` — first 5 rows</a:t>
            </a:r>
          </a:p>
          <a:p>
            <a:pPr>
              <a:spcAft>
                <a:spcPts val="800"/>
              </a:spcAft>
              <a:defRPr sz="1600">
                <a:solidFill>
                  <a:srgbClr val="333333"/>
                </a:solidFill>
              </a:defRPr>
            </a:pPr>
            <a:r>
              <a:t>`df.shape` — how many rows and columns</a:t>
            </a:r>
          </a:p>
          <a:p>
            <a:pPr>
              <a:spcAft>
                <a:spcPts val="800"/>
              </a:spcAft>
              <a:defRPr sz="1600">
                <a:solidFill>
                  <a:srgbClr val="333333"/>
                </a:solidFill>
              </a:defRPr>
            </a:pPr>
            <a:r>
              <a:t>`df.info()` — column types, missing values</a:t>
            </a:r>
          </a:p>
          <a:p>
            <a:pPr>
              <a:spcAft>
                <a:spcPts val="800"/>
              </a:spcAft>
              <a:defRPr sz="1600">
                <a:solidFill>
                  <a:srgbClr val="333333"/>
                </a:solidFill>
              </a:defRPr>
            </a:pPr>
            <a:r>
              <a:t>`df.describe()` — statistical summary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 Colab with dataset loaded.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Getting the Data You Need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Select a column: `df["Sales"]` or `df.Sales`</a:t>
            </a:r>
          </a:p>
          <a:p>
            <a:pPr>
              <a:spcAft>
                <a:spcPts val="800"/>
              </a:spcAft>
              <a:defRPr sz="1600">
                <a:solidFill>
                  <a:srgbClr val="333333"/>
                </a:solidFill>
              </a:defRPr>
            </a:pPr>
            <a:r>
              <a:t>Select multiple columns: `df[["City", "Sales", "Profit"]]`</a:t>
            </a:r>
          </a:p>
          <a:p>
            <a:pPr>
              <a:spcAft>
                <a:spcPts val="800"/>
              </a:spcAft>
              <a:defRPr sz="1600">
                <a:solidFill>
                  <a:srgbClr val="333333"/>
                </a:solidFill>
              </a:defRPr>
            </a:pPr>
            <a:r>
              <a:t>Filter rows: `df[df["Region"] == "Central"]`</a:t>
            </a:r>
          </a:p>
          <a:p>
            <a:pPr>
              <a:spcAft>
                <a:spcPts val="800"/>
              </a:spcAft>
              <a:defRPr sz="1600">
                <a:solidFill>
                  <a:srgbClr val="333333"/>
                </a:solidFill>
              </a:defRPr>
            </a:pPr>
            <a:r>
              <a:t>Combine conditions: `df[(df["Sales"] &gt; 1000) &amp; (df["Category"] == "Technology")]`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Filtering pipeline diagram — full DataFrame on the left, condition in the middle (funnel icon), filtered subset on the right. Show row count shrinking. ---</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Hands-On: Answering Questions with Filters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"Show me all orders from Tashkent" (if using Uzbekistan data)</a:t>
            </a:r>
          </a:p>
          <a:p>
            <a:pPr>
              <a:spcAft>
                <a:spcPts val="800"/>
              </a:spcAft>
              <a:defRPr sz="1600">
                <a:solidFill>
                  <a:srgbClr val="333333"/>
                </a:solidFill>
              </a:defRPr>
            </a:pPr>
            <a:r>
              <a:t>"Which products had profit &gt; $500?"</a:t>
            </a:r>
          </a:p>
          <a:p>
            <a:pPr>
              <a:spcAft>
                <a:spcPts val="800"/>
              </a:spcAft>
              <a:defRPr sz="1600">
                <a:solidFill>
                  <a:srgbClr val="333333"/>
                </a:solidFill>
              </a:defRPr>
            </a:pPr>
            <a:r>
              <a:t>"How many Technology orders were shipped Standard Class?"</a:t>
            </a:r>
          </a:p>
          <a:p>
            <a:pPr>
              <a:spcAft>
                <a:spcPts val="800"/>
              </a:spcAft>
              <a:defRPr sz="1600">
                <a:solidFill>
                  <a:srgbClr val="333333"/>
                </a:solidFill>
              </a:defRPr>
            </a:pPr>
            <a:r>
              <a:t>Chain filters to narrow down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Summarizing Data — groupby()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`df.groupby("Category")["Sales"].mean()` — average sales per category</a:t>
            </a:r>
          </a:p>
          <a:p>
            <a:pPr>
              <a:spcAft>
                <a:spcPts val="800"/>
              </a:spcAft>
              <a:defRPr sz="1600">
                <a:solidFill>
                  <a:srgbClr val="333333"/>
                </a:solidFill>
              </a:defRPr>
            </a:pPr>
            <a:r>
              <a:t>Common aggregations: `.sum()`, `.mean()`, `.count()`, `.max()`, `.min()`</a:t>
            </a:r>
          </a:p>
          <a:p>
            <a:pPr>
              <a:spcAft>
                <a:spcPts val="800"/>
              </a:spcAft>
              <a:defRPr sz="1600">
                <a:solidFill>
                  <a:srgbClr val="333333"/>
                </a:solidFill>
              </a:defRPr>
            </a:pPr>
            <a:r>
              <a:t>Multiple aggregations: `.agg(["mean", "sum", "count"])`</a:t>
            </a:r>
          </a:p>
          <a:p>
            <a:pPr>
              <a:spcAft>
                <a:spcPts val="800"/>
              </a:spcAft>
              <a:defRPr sz="1600">
                <a:solidFill>
                  <a:srgbClr val="333333"/>
                </a:solidFill>
              </a:defRPr>
            </a:pPr>
            <a:r>
              <a:t>This is the Pandas equivalent of SQL's GROUP BY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Groupby diagram — original table on left, "split" into colored groups by category in the middle, "apply" (mean) to each group, "combine" into summary table on right. The split-apply-combine pattern.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Group, Aggregate, Analyze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Total sales by region</a:t>
            </a:r>
          </a:p>
          <a:p>
            <a:pPr>
              <a:spcAft>
                <a:spcPts val="800"/>
              </a:spcAft>
              <a:defRPr sz="1600">
                <a:solidFill>
                  <a:srgbClr val="333333"/>
                </a:solidFill>
              </a:defRPr>
            </a:pPr>
            <a:r>
              <a:t>Average profit by product category</a:t>
            </a:r>
          </a:p>
          <a:p>
            <a:pPr>
              <a:spcAft>
                <a:spcPts val="800"/>
              </a:spcAft>
              <a:defRPr sz="1600">
                <a:solidFill>
                  <a:srgbClr val="333333"/>
                </a:solidFill>
              </a:defRPr>
            </a:pPr>
            <a:r>
              <a:t>Count of orders per shipping mode</a:t>
            </a:r>
          </a:p>
          <a:p>
            <a:pPr>
              <a:spcAft>
                <a:spcPts val="800"/>
              </a:spcAft>
              <a:defRPr sz="1600">
                <a:solidFill>
                  <a:srgbClr val="333333"/>
                </a:solidFill>
              </a:defRPr>
            </a:pPr>
            <a:r>
              <a:t>Top 5 cities by total sales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Missing Values — The Reality of Real Data</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Real datasets always have gaps</a:t>
            </a:r>
          </a:p>
          <a:p>
            <a:pPr>
              <a:spcAft>
                <a:spcPts val="800"/>
              </a:spcAft>
              <a:defRPr sz="1600">
                <a:solidFill>
                  <a:srgbClr val="333333"/>
                </a:solidFill>
              </a:defRPr>
            </a:pPr>
            <a:r>
              <a:t>`df.isnull().sum()` — count missing values per column</a:t>
            </a:r>
          </a:p>
          <a:p>
            <a:pPr>
              <a:spcAft>
                <a:spcPts val="800"/>
              </a:spcAft>
              <a:defRPr sz="1600">
                <a:solidFill>
                  <a:srgbClr val="333333"/>
                </a:solidFill>
              </a:defRPr>
            </a:pPr>
            <a:r>
              <a:t>Options: drop rows (`dropna()`), fill with a value (`fillna(0)`), fill with mean</a:t>
            </a:r>
          </a:p>
          <a:p>
            <a:pPr>
              <a:spcAft>
                <a:spcPts val="800"/>
              </a:spcAft>
              <a:defRPr sz="1600">
                <a:solidFill>
                  <a:srgbClr val="333333"/>
                </a:solidFill>
              </a:defRPr>
            </a:pPr>
            <a:r>
              <a:t>Decision depends on context — dropping isn't always the right move</a:t>
            </a:r>
          </a:p>
          <a:p>
            <a:pPr>
              <a:spcAft>
                <a:spcPts val="800"/>
              </a:spcAft>
              <a:defRPr sz="1600">
                <a:solidFill>
                  <a:srgbClr val="333333"/>
                </a:solidFill>
              </a:defRPr>
            </a:pPr>
            <a:r>
              <a:t>We'll go deeper on this in Module 3</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DataFrame with highlighted NaN cells in red. Three arrows pointing to three strategies: Drop, Fill with 0, Fill with mean. ---</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Feature Engineering Preview: New Columns from Old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`df["Profit_Margin"] = df["Profit"] / df["Sales"] * 100`</a:t>
            </a:r>
          </a:p>
          <a:p>
            <a:pPr>
              <a:spcAft>
                <a:spcPts val="800"/>
              </a:spcAft>
              <a:defRPr sz="1600">
                <a:solidFill>
                  <a:srgbClr val="333333"/>
                </a:solidFill>
              </a:defRPr>
            </a:pPr>
            <a:r>
              <a:t>String operations: `df["City_Upper"] = df["City"].str.upper()`</a:t>
            </a:r>
          </a:p>
          <a:p>
            <a:pPr>
              <a:spcAft>
                <a:spcPts val="800"/>
              </a:spcAft>
              <a:defRPr sz="1600">
                <a:solidFill>
                  <a:srgbClr val="333333"/>
                </a:solidFill>
              </a:defRPr>
            </a:pPr>
            <a:r>
              <a:t>Conditional columns with `np.where()`: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Table showing original columns (Sales, Profit) and a new derived column (Profit_Margin) with the formula as a header annotation. ---</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Pandas Quick Reference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Load: `pd.read_csv()`, `pd.read_excel()`</a:t>
            </a:r>
          </a:p>
          <a:p>
            <a:pPr>
              <a:spcAft>
                <a:spcPts val="800"/>
              </a:spcAft>
              <a:defRPr sz="1600">
                <a:solidFill>
                  <a:srgbClr val="333333"/>
                </a:solidFill>
              </a:defRPr>
            </a:pPr>
            <a:r>
              <a:t>Inspect: `.head()`, `.shape`, `.info()`, `.describe()`, `.dtypes`</a:t>
            </a:r>
          </a:p>
          <a:p>
            <a:pPr>
              <a:spcAft>
                <a:spcPts val="800"/>
              </a:spcAft>
              <a:defRPr sz="1600">
                <a:solidFill>
                  <a:srgbClr val="333333"/>
                </a:solidFill>
              </a:defRPr>
            </a:pPr>
            <a:r>
              <a:t>Select: `df["col"]`, `df[["col1", "col2"]]`</a:t>
            </a:r>
          </a:p>
          <a:p>
            <a:pPr>
              <a:spcAft>
                <a:spcPts val="800"/>
              </a:spcAft>
              <a:defRPr sz="1600">
                <a:solidFill>
                  <a:srgbClr val="333333"/>
                </a:solidFill>
              </a:defRPr>
            </a:pPr>
            <a:r>
              <a:t>Filter: `df[df["col"] &gt; value]`</a:t>
            </a:r>
          </a:p>
          <a:p>
            <a:pPr>
              <a:spcAft>
                <a:spcPts val="800"/>
              </a:spcAft>
              <a:defRPr sz="1600">
                <a:solidFill>
                  <a:srgbClr val="333333"/>
                </a:solidFill>
              </a:defRPr>
            </a:pPr>
            <a:r>
              <a:t>Aggregate: `.groupby()`, `.value_counts()`, `.agg()`</a:t>
            </a:r>
          </a:p>
          <a:p>
            <a:pPr>
              <a:spcAft>
                <a:spcPts val="800"/>
              </a:spcAft>
              <a:defRPr sz="1600">
                <a:solidFill>
                  <a:srgbClr val="333333"/>
                </a:solidFill>
              </a:defRPr>
            </a:pPr>
            <a:r>
              <a:t>Clean: `.isnull()`, `.dropna()`, `.fillna()`, `.drop_duplicates()`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Clean reference card layout — two columns, function on left, description on right. Color-coded by category (load = blue, inspect = green, filter = orange, etc.).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NumPy: arrays, vectorized operations, speed</a:t>
            </a:r>
          </a:p>
          <a:p>
            <a:pPr>
              <a:spcAft>
                <a:spcPts val="800"/>
              </a:spcAft>
              <a:defRPr sz="1600">
                <a:solidFill>
                  <a:srgbClr val="333333"/>
                </a:solidFill>
              </a:defRPr>
            </a:pPr>
            <a:r>
              <a:t>Pandas: DataFrames, loading data, filtering, groupby</a:t>
            </a:r>
          </a:p>
          <a:p>
            <a:pPr>
              <a:spcAft>
                <a:spcPts val="800"/>
              </a:spcAft>
              <a:defRPr sz="1600">
                <a:solidFill>
                  <a:srgbClr val="333333"/>
                </a:solidFill>
              </a:defRPr>
            </a:pPr>
            <a:r>
              <a:t>Key takeaway: Pandas is your Swiss Army knife for data. Learn it well.</a:t>
            </a:r>
          </a:p>
          <a:p>
            <a:pPr>
              <a:spcAft>
                <a:spcPts val="800"/>
              </a:spcAft>
              <a:defRPr sz="1600">
                <a:solidFill>
                  <a:srgbClr val="333333"/>
                </a:solidFill>
              </a:defRPr>
            </a:pPr>
            <a:r>
              <a:t>Complete Kaggle Pandas Micro-Course (first 3 lessons)</a:t>
            </a:r>
          </a:p>
          <a:p>
            <a:pPr>
              <a:spcAft>
                <a:spcPts val="800"/>
              </a:spcAft>
              <a:defRPr sz="1600">
                <a:solidFill>
                  <a:srgbClr val="333333"/>
                </a:solidFill>
              </a:defRPr>
            </a:pPr>
            <a:r>
              <a:t>Practice: Load Superstore dataset, answer 5 questions using filters and groupby</a:t>
            </a:r>
          </a:p>
          <a:p>
            <a:pPr>
              <a:spcAft>
                <a:spcPts val="800"/>
              </a:spcAft>
              <a:defRPr sz="1600">
                <a:solidFill>
                  <a:srgbClr val="333333"/>
                </a:solidFill>
              </a:defRPr>
            </a:pPr>
            <a:r>
              <a:t>[ACTIVITY] Activity 1 Step 2: Basic data inspection — shape, dtypes, missing values, first statistical summary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Checklist with homework items. Links to Kaggle Pandas course.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3: Data Visualization — Matplotlib and Seaborn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Data Visualization — Making Data Speak</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2, Class 3</a:t>
            </a:r>
          </a:p>
          <a:p>
            <a:pPr>
              <a:spcAft>
                <a:spcPts val="800"/>
              </a:spcAft>
              <a:defRPr sz="1600">
                <a:solidFill>
                  <a:srgbClr val="333333"/>
                </a:solidFill>
              </a:defRPr>
            </a:pPr>
            <a:r>
              <a:t>Matplotlib: the foundation of Python plotting</a:t>
            </a:r>
          </a:p>
          <a:p>
            <a:pPr>
              <a:spcAft>
                <a:spcPts val="800"/>
              </a:spcAft>
              <a:defRPr sz="1600">
                <a:solidFill>
                  <a:srgbClr val="333333"/>
                </a:solidFill>
              </a:defRPr>
            </a:pPr>
            <a:r>
              <a:t>Seaborn: statistical visualizations made easy</a:t>
            </a:r>
          </a:p>
          <a:p>
            <a:pPr>
              <a:spcAft>
                <a:spcPts val="800"/>
              </a:spcAft>
              <a:defRPr sz="1600">
                <a:solidFill>
                  <a:srgbClr val="333333"/>
                </a:solidFill>
              </a:defRPr>
            </a:pPr>
            <a:r>
              <a:t>Today's goal: build 5 plot types and know when to use each</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with a collage of chart types: histogram, scatter plot, bar chart, box plot, heatmap.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The Same Data, Different Story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Anscombe's Quartet: 4 datasets with identical stats but totally different patterns</a:t>
            </a:r>
          </a:p>
          <a:p>
            <a:pPr>
              <a:spcAft>
                <a:spcPts val="800"/>
              </a:spcAft>
              <a:defRPr sz="1600">
                <a:solidFill>
                  <a:srgbClr val="333333"/>
                </a:solidFill>
              </a:defRPr>
            </a:pPr>
            <a:r>
              <a:t>Numbers alone can mislead — always plot your data</a:t>
            </a:r>
          </a:p>
          <a:p>
            <a:pPr>
              <a:spcAft>
                <a:spcPts val="800"/>
              </a:spcAft>
              <a:defRPr sz="1600">
                <a:solidFill>
                  <a:srgbClr val="333333"/>
                </a:solidFill>
              </a:defRPr>
            </a:pPr>
            <a:r>
              <a:t>Visualization is not decoration — it's analysis</a:t>
            </a:r>
          </a:p>
          <a:p>
            <a:pPr>
              <a:spcAft>
                <a:spcPts val="800"/>
              </a:spcAft>
              <a:defRPr sz="1600">
                <a:solidFill>
                  <a:srgbClr val="333333"/>
                </a:solidFill>
              </a:defRPr>
            </a:pPr>
            <a:r>
              <a:t>"If you can't see it, you can't model it"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Anscombe's Quartet — 4 scatter plots in a 2x2 grid, each with the same stats displayed but visually different patterns. ---</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Which Chart Should I Use?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Distribution of one variable → Histogram, KDE plot</a:t>
            </a:r>
          </a:p>
          <a:p>
            <a:pPr>
              <a:spcAft>
                <a:spcPts val="800"/>
              </a:spcAft>
              <a:defRPr sz="1600">
                <a:solidFill>
                  <a:srgbClr val="333333"/>
                </a:solidFill>
              </a:defRPr>
            </a:pPr>
            <a:r>
              <a:t>Compare categories → Bar chart, count plot</a:t>
            </a:r>
          </a:p>
          <a:p>
            <a:pPr>
              <a:spcAft>
                <a:spcPts val="800"/>
              </a:spcAft>
              <a:defRPr sz="1600">
                <a:solidFill>
                  <a:srgbClr val="333333"/>
                </a:solidFill>
              </a:defRPr>
            </a:pPr>
            <a:r>
              <a:t>Relationship between two variables → Scatter plot</a:t>
            </a:r>
          </a:p>
          <a:p>
            <a:pPr>
              <a:spcAft>
                <a:spcPts val="800"/>
              </a:spcAft>
              <a:defRPr sz="1600">
                <a:solidFill>
                  <a:srgbClr val="333333"/>
                </a:solidFill>
              </a:defRPr>
            </a:pPr>
            <a:r>
              <a:t>Distribution across groups → Box plot, violin plot</a:t>
            </a:r>
          </a:p>
          <a:p>
            <a:pPr>
              <a:spcAft>
                <a:spcPts val="800"/>
              </a:spcAft>
              <a:defRPr sz="1600">
                <a:solidFill>
                  <a:srgbClr val="333333"/>
                </a:solidFill>
              </a:defRPr>
            </a:pPr>
            <a:r>
              <a:t>Correlation between many variables → Heatmap</a:t>
            </a:r>
          </a:p>
          <a:p>
            <a:pPr>
              <a:spcAft>
                <a:spcPts val="800"/>
              </a:spcAft>
              <a:defRPr sz="1600">
                <a:solidFill>
                  <a:srgbClr val="333333"/>
                </a:solidFill>
              </a:defRPr>
            </a:pPr>
            <a:r>
              <a:t>When in doubt: start with a histogram and a scatter plot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Flowchart / decision tree — starts with "What are you trying to show?" and branches into: Distribution → Histogram, Comparison → Bar, Relationship → Scatter, Spread → Boxplot, Correlation → Heatmap. ---</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Matplotlib — The Foundation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`import matplotlib.pyplot as plt`</a:t>
            </a:r>
          </a:p>
          <a:p>
            <a:pPr>
              <a:spcAft>
                <a:spcPts val="800"/>
              </a:spcAft>
              <a:defRPr sz="1600">
                <a:solidFill>
                  <a:srgbClr val="333333"/>
                </a:solidFill>
              </a:defRPr>
            </a:pPr>
            <a:r>
              <a:t>`plt.plot(x, y)` — line plot</a:t>
            </a:r>
          </a:p>
          <a:p>
            <a:pPr>
              <a:spcAft>
                <a:spcPts val="800"/>
              </a:spcAft>
              <a:defRPr sz="1600">
                <a:solidFill>
                  <a:srgbClr val="333333"/>
                </a:solidFill>
              </a:defRPr>
            </a:pPr>
            <a:r>
              <a:t>`plt.xlabel()`, `plt.ylabel()`, `plt.title()` — labels</a:t>
            </a:r>
          </a:p>
          <a:p>
            <a:pPr>
              <a:spcAft>
                <a:spcPts val="800"/>
              </a:spcAft>
              <a:defRPr sz="1600">
                <a:solidFill>
                  <a:srgbClr val="333333"/>
                </a:solidFill>
              </a:defRPr>
            </a:pPr>
            <a:r>
              <a:t>`plt.show()` — render the plot</a:t>
            </a:r>
          </a:p>
          <a:p>
            <a:pPr>
              <a:spcAft>
                <a:spcPts val="800"/>
              </a:spcAft>
              <a:defRPr sz="1600">
                <a:solidFill>
                  <a:srgbClr val="333333"/>
                </a:solidFill>
              </a:defRPr>
            </a:pPr>
            <a:r>
              <a:t>Figure and Axes: `fig, ax = plt.subplots()` for more control</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Simple line plot with labeled parts — title, x-label, y-label, legend, gridlines. Annotations pointing to each element.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Histogram — Distribution of a Single Variable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Shows how values are distributed (frequency of ranges)</a:t>
            </a:r>
          </a:p>
          <a:p>
            <a:pPr>
              <a:spcAft>
                <a:spcPts val="800"/>
              </a:spcAft>
              <a:defRPr sz="1600">
                <a:solidFill>
                  <a:srgbClr val="333333"/>
                </a:solidFill>
              </a:defRPr>
            </a:pPr>
            <a:r>
              <a:t>`plt.hist(df["Sales"], bins=30)`</a:t>
            </a:r>
          </a:p>
          <a:p>
            <a:pPr>
              <a:spcAft>
                <a:spcPts val="800"/>
              </a:spcAft>
              <a:defRPr sz="1600">
                <a:solidFill>
                  <a:srgbClr val="333333"/>
                </a:solidFill>
              </a:defRPr>
            </a:pPr>
            <a:r>
              <a:t>Useful for: spotting skewness, outliers, data range</a:t>
            </a:r>
          </a:p>
          <a:p>
            <a:pPr>
              <a:spcAft>
                <a:spcPts val="800"/>
              </a:spcAft>
              <a:defRPr sz="1600">
                <a:solidFill>
                  <a:srgbClr val="333333"/>
                </a:solidFill>
              </a:defRPr>
            </a:pPr>
            <a:r>
              <a:t>Tip: adjust `bins` parameter — too few hides patterns, too many adds noise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 histogram with labeled axes.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Bar Chart — Comparing Categories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`df.groupby("Category")["Sales"].sum().plot(kind="bar")`</a:t>
            </a:r>
          </a:p>
          <a:p>
            <a:pPr>
              <a:spcAft>
                <a:spcPts val="800"/>
              </a:spcAft>
              <a:defRPr sz="1600">
                <a:solidFill>
                  <a:srgbClr val="333333"/>
                </a:solidFill>
              </a:defRPr>
            </a:pPr>
            <a:r>
              <a:t>Seaborn: `sns.countplot(x="Category", data=df)`</a:t>
            </a:r>
          </a:p>
          <a:p>
            <a:pPr>
              <a:spcAft>
                <a:spcPts val="800"/>
              </a:spcAft>
              <a:defRPr sz="1600">
                <a:solidFill>
                  <a:srgbClr val="333333"/>
                </a:solidFill>
              </a:defRPr>
            </a:pPr>
            <a:r>
              <a:t>Horizontal bars for long labels: `kind="barh"`</a:t>
            </a:r>
          </a:p>
          <a:p>
            <a:pPr>
              <a:spcAft>
                <a:spcPts val="800"/>
              </a:spcAft>
              <a:defRPr sz="1600">
                <a:solidFill>
                  <a:srgbClr val="333333"/>
                </a:solidFill>
              </a:defRPr>
            </a:pPr>
            <a:r>
              <a:t>Always sort bars by value for readability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 sorted bar chart.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Scatter Plot — Relationships Between Variables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`plt.scatter(df["Sales"], df["Profit"])`</a:t>
            </a:r>
          </a:p>
          <a:p>
            <a:pPr>
              <a:spcAft>
                <a:spcPts val="800"/>
              </a:spcAft>
              <a:defRPr sz="1600">
                <a:solidFill>
                  <a:srgbClr val="333333"/>
                </a:solidFill>
              </a:defRPr>
            </a:pPr>
            <a:r>
              <a:t>Each dot is one data point</a:t>
            </a:r>
          </a:p>
          <a:p>
            <a:pPr>
              <a:spcAft>
                <a:spcPts val="800"/>
              </a:spcAft>
              <a:defRPr sz="1600">
                <a:solidFill>
                  <a:srgbClr val="333333"/>
                </a:solidFill>
              </a:defRPr>
            </a:pPr>
            <a:r>
              <a:t>Reveals: correlations, clusters, outliers</a:t>
            </a:r>
          </a:p>
          <a:p>
            <a:pPr>
              <a:spcAft>
                <a:spcPts val="800"/>
              </a:spcAft>
              <a:defRPr sz="1600">
                <a:solidFill>
                  <a:srgbClr val="333333"/>
                </a:solidFill>
              </a:defRPr>
            </a:pPr>
            <a:r>
              <a:t>Add color for a third variable: `c=df["Discount"]`</a:t>
            </a:r>
          </a:p>
          <a:p>
            <a:pPr>
              <a:spcAft>
                <a:spcPts val="800"/>
              </a:spcAft>
              <a:defRPr sz="1600">
                <a:solidFill>
                  <a:srgbClr val="333333"/>
                </a:solidFill>
              </a:defRPr>
            </a:pPr>
            <a:r>
              <a:t>Seaborn: `sns.scatterplot(x="Sales", y="Profit", hue="Category", data=df)`</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 scatter plot with colored categories and a horizontal line at Profit = 0.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Box Plot — Distribution and Outliers at a Glance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Shows: median, quartiles (25th/75th), whiskers, outliers</a:t>
            </a:r>
          </a:p>
          <a:p>
            <a:pPr>
              <a:spcAft>
                <a:spcPts val="800"/>
              </a:spcAft>
              <a:defRPr sz="1600">
                <a:solidFill>
                  <a:srgbClr val="333333"/>
                </a:solidFill>
              </a:defRPr>
            </a:pPr>
            <a:r>
              <a:t>`sns.boxplot(x="Category", y="Sales", data=df)`</a:t>
            </a:r>
          </a:p>
          <a:p>
            <a:pPr>
              <a:spcAft>
                <a:spcPts val="800"/>
              </a:spcAft>
              <a:defRPr sz="1600">
                <a:solidFill>
                  <a:srgbClr val="333333"/>
                </a:solidFill>
              </a:defRPr>
            </a:pPr>
            <a:r>
              <a:t>Great for comparing distributions across groups</a:t>
            </a:r>
          </a:p>
          <a:p>
            <a:pPr>
              <a:spcAft>
                <a:spcPts val="800"/>
              </a:spcAft>
              <a:defRPr sz="1600">
                <a:solidFill>
                  <a:srgbClr val="333333"/>
                </a:solidFill>
              </a:defRPr>
            </a:pPr>
            <a:r>
              <a:t>Outliers shown as individual dots beyond the whiskers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 annotated box plot diagram showing median, Q1, Q3, IQR, whiskers, and outlier dots with labels. ---</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Heatmap — Correlation Matrix</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`sns.heatmap(df.corr(), annot=True, cmap="coolwarm")`</a:t>
            </a:r>
          </a:p>
          <a:p>
            <a:pPr>
              <a:spcAft>
                <a:spcPts val="800"/>
              </a:spcAft>
              <a:defRPr sz="1600">
                <a:solidFill>
                  <a:srgbClr val="333333"/>
                </a:solidFill>
              </a:defRPr>
            </a:pPr>
            <a:r>
              <a:t>Shows correlation between all numeric variables</a:t>
            </a:r>
          </a:p>
          <a:p>
            <a:pPr>
              <a:spcAft>
                <a:spcPts val="800"/>
              </a:spcAft>
              <a:defRPr sz="1600">
                <a:solidFill>
                  <a:srgbClr val="333333"/>
                </a:solidFill>
              </a:defRPr>
            </a:pPr>
            <a:r>
              <a:t>+1 = strong positive, -1 = strong negative, 0 = no relationship</a:t>
            </a:r>
          </a:p>
          <a:p>
            <a:pPr>
              <a:spcAft>
                <a:spcPts val="800"/>
              </a:spcAft>
              <a:defRPr sz="1600">
                <a:solidFill>
                  <a:srgbClr val="333333"/>
                </a:solidFill>
              </a:defRPr>
            </a:pPr>
            <a:r>
              <a:t>Useful for quick feature selection in ML</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Live screen share — annotated heatmap with color bar.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Why Seaborn on Top of Matplotlib?</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Better defaults — looks professional out of the box</a:t>
            </a:r>
          </a:p>
          <a:p>
            <a:pPr>
              <a:spcAft>
                <a:spcPts val="800"/>
              </a:spcAft>
              <a:defRPr sz="1600">
                <a:solidFill>
                  <a:srgbClr val="333333"/>
                </a:solidFill>
              </a:defRPr>
            </a:pPr>
            <a:r>
              <a:t>Statistical plots built in: violin plots, pair plots, distribution plots</a:t>
            </a:r>
          </a:p>
          <a:p>
            <a:pPr>
              <a:spcAft>
                <a:spcPts val="800"/>
              </a:spcAft>
              <a:defRPr sz="1600">
                <a:solidFill>
                  <a:srgbClr val="333333"/>
                </a:solidFill>
              </a:defRPr>
            </a:pPr>
            <a:r>
              <a:t>Integrates directly with Pandas DataFrames</a:t>
            </a:r>
          </a:p>
          <a:p>
            <a:pPr>
              <a:spcAft>
                <a:spcPts val="800"/>
              </a:spcAft>
              <a:defRPr sz="1600">
                <a:solidFill>
                  <a:srgbClr val="333333"/>
                </a:solidFill>
              </a:defRPr>
            </a:pPr>
            <a:r>
              <a:t>`sns.set_style("whitegrid")` — one line for clean aesthetics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Side-by-side comparison — same scatter plot in raw Matplotlib (default gray background, no legend) vs Seaborn (clean grid, colored by category, legend). ---</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Making Charts Presentation-Ready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Always add: title, axis labels, units</a:t>
            </a:r>
          </a:p>
          <a:p>
            <a:pPr>
              <a:spcAft>
                <a:spcPts val="800"/>
              </a:spcAft>
              <a:defRPr sz="1600">
                <a:solidFill>
                  <a:srgbClr val="333333"/>
                </a:solidFill>
              </a:defRPr>
            </a:pPr>
            <a:r>
              <a:t>Use `figsize=(12, 6)` for proper proportions</a:t>
            </a:r>
          </a:p>
          <a:p>
            <a:pPr>
              <a:spcAft>
                <a:spcPts val="800"/>
              </a:spcAft>
              <a:defRPr sz="1600">
                <a:solidFill>
                  <a:srgbClr val="333333"/>
                </a:solidFill>
              </a:defRPr>
            </a:pPr>
            <a:r>
              <a:t>Color palettes: `sns.color_palette("husl", 5)`</a:t>
            </a:r>
          </a:p>
          <a:p>
            <a:pPr>
              <a:spcAft>
                <a:spcPts val="800"/>
              </a:spcAft>
              <a:defRPr sz="1600">
                <a:solidFill>
                  <a:srgbClr val="333333"/>
                </a:solidFill>
              </a:defRPr>
            </a:pPr>
            <a:r>
              <a:t>Save plots: `plt.savefig("chart.png", dpi=300, bbox_inches="tight")`</a:t>
            </a:r>
          </a:p>
          <a:p>
            <a:pPr>
              <a:spcAft>
                <a:spcPts val="800"/>
              </a:spcAft>
              <a:defRPr sz="1600">
                <a:solidFill>
                  <a:srgbClr val="333333"/>
                </a:solidFill>
              </a:defRPr>
            </a:pPr>
            <a:r>
              <a:t>Multiple plots: `fig, axes = plt.subplots(1, 3, figsize=(18, 5))`</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Before/after — a bare plot with no labels vs the same plot with title, labels, gridlines, legend, and proper sizing.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Activity 2 — Visualize the Superstore Data</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Create at least 5 charts from the Superstore dataset:</a:t>
            </a:r>
          </a:p>
          <a:p>
            <a:pPr>
              <a:spcAft>
                <a:spcPts val="800"/>
              </a:spcAft>
              <a:defRPr sz="1600">
                <a:solidFill>
                  <a:srgbClr val="333333"/>
                </a:solidFill>
              </a:defRPr>
            </a:pPr>
            <a:r>
              <a:t>Each chart must have: title, labeled axes, appropriate colors</a:t>
            </a:r>
          </a:p>
          <a:p>
            <a:pPr>
              <a:spcAft>
                <a:spcPts val="800"/>
              </a:spcAft>
              <a:defRPr sz="1600">
                <a:solidFill>
                  <a:srgbClr val="333333"/>
                </a:solidFill>
              </a:defRPr>
            </a:pPr>
            <a:r>
              <a:t>Write 1-2 sentences interpreting each chart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Activity worksheet layout — 5 numbered slots, each with the chart type and a "What does this tell us?" prompt.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Local Data, Real Questions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Tashkent metro ridership by time of day — what chart?</a:t>
            </a:r>
          </a:p>
          <a:p>
            <a:pPr>
              <a:spcAft>
                <a:spcPts val="800"/>
              </a:spcAft>
              <a:defRPr sz="1600">
                <a:solidFill>
                  <a:srgbClr val="333333"/>
                </a:solidFill>
              </a:defRPr>
            </a:pPr>
            <a:r>
              <a:t>Regional internet penetration across Uzbekistan's 14 regions — what chart?</a:t>
            </a:r>
          </a:p>
          <a:p>
            <a:pPr>
              <a:spcAft>
                <a:spcPts val="800"/>
              </a:spcAft>
              <a:defRPr sz="1600">
                <a:solidFill>
                  <a:srgbClr val="333333"/>
                </a:solidFill>
              </a:defRPr>
            </a:pPr>
            <a:r>
              <a:t>Uztelecom customer complaints by category — what chart?</a:t>
            </a:r>
          </a:p>
          <a:p>
            <a:pPr>
              <a:spcAft>
                <a:spcPts val="800"/>
              </a:spcAft>
              <a:defRPr sz="1600">
                <a:solidFill>
                  <a:srgbClr val="333333"/>
                </a:solidFill>
              </a:defRPr>
            </a:pPr>
            <a:r>
              <a:t>Cotton export volume over 20 years — what chart?</a:t>
            </a:r>
          </a:p>
          <a:p>
            <a:pPr>
              <a:spcAft>
                <a:spcPts val="800"/>
              </a:spcAft>
              <a:defRPr sz="1600">
                <a:solidFill>
                  <a:srgbClr val="333333"/>
                </a:solidFill>
              </a:defRPr>
            </a:pPr>
            <a:r>
              <a:t>Correlation between education spending and literacy rates by region?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Map of Uzbekistan with 14 regions outlined, each region colored by a hypothetical metric (e.g., internet penetration percentage).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Today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Matplotlib for foundational plotting</a:t>
            </a:r>
          </a:p>
          <a:p>
            <a:pPr>
              <a:spcAft>
                <a:spcPts val="800"/>
              </a:spcAft>
              <a:defRPr sz="1600">
                <a:solidFill>
                  <a:srgbClr val="333333"/>
                </a:solidFill>
              </a:defRPr>
            </a:pPr>
            <a:r>
              <a:t>Seaborn for statistical charts</a:t>
            </a:r>
          </a:p>
          <a:p>
            <a:pPr>
              <a:spcAft>
                <a:spcPts val="800"/>
              </a:spcAft>
              <a:defRPr sz="1600">
                <a:solidFill>
                  <a:srgbClr val="333333"/>
                </a:solidFill>
              </a:defRPr>
            </a:pPr>
            <a:r>
              <a:t>5 chart types: histogram, bar, scatter, box plot, heatmap</a:t>
            </a:r>
          </a:p>
          <a:p>
            <a:pPr>
              <a:spcAft>
                <a:spcPts val="800"/>
              </a:spcAft>
              <a:defRPr sz="1600">
                <a:solidFill>
                  <a:srgbClr val="333333"/>
                </a:solidFill>
              </a:defRPr>
            </a:pPr>
            <a:r>
              <a:t>Key takeaway: always visualize before modeling. Always label your charts.</a:t>
            </a:r>
          </a:p>
          <a:p>
            <a:pPr>
              <a:spcAft>
                <a:spcPts val="800"/>
              </a:spcAft>
              <a:defRPr sz="1600">
                <a:solidFill>
                  <a:srgbClr val="333333"/>
                </a:solidFill>
              </a:defRPr>
            </a:pPr>
            <a:r>
              <a:t>Complete Kaggle Data Visualization Micro-Course (first 3 lessons)</a:t>
            </a:r>
          </a:p>
          <a:p>
            <a:pPr>
              <a:spcAft>
                <a:spcPts val="800"/>
              </a:spcAft>
              <a:defRPr sz="1600">
                <a:solidFill>
                  <a:srgbClr val="333333"/>
                </a:solidFill>
              </a:defRPr>
            </a:pPr>
            <a:r>
              <a:t>[ACTIVITY] Activity 2: finish all 5 charts with interpretations</a:t>
            </a:r>
          </a:p>
          <a:p>
            <a:pPr>
              <a:spcAft>
                <a:spcPts val="800"/>
              </a:spcAft>
              <a:defRPr sz="1600">
                <a:solidFill>
                  <a:srgbClr val="333333"/>
                </a:solidFill>
              </a:defRPr>
            </a:pPr>
            <a:r>
              <a:t>Bonus: create one chart not covered today (line plot, violin plot, or pair plot)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Gallery of today's 5 chart types in a row, each labeled.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4: Linear Algebra for ML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Linear Algebra — The Math Behind Machine Learning</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2, Class 4</a:t>
            </a:r>
          </a:p>
          <a:p>
            <a:pPr>
              <a:spcAft>
                <a:spcPts val="800"/>
              </a:spcAft>
              <a:defRPr sz="1600">
                <a:solidFill>
                  <a:srgbClr val="333333"/>
                </a:solidFill>
              </a:defRPr>
            </a:pPr>
            <a:r>
              <a:t>Vectors, matrices, dot products, matrix multiplication</a:t>
            </a:r>
          </a:p>
          <a:p>
            <a:pPr>
              <a:spcAft>
                <a:spcPts val="800"/>
              </a:spcAft>
              <a:defRPr sz="1600">
                <a:solidFill>
                  <a:srgbClr val="333333"/>
                </a:solidFill>
              </a:defRPr>
            </a:pPr>
            <a:r>
              <a:t>Why this math is unavoidable in ML</a:t>
            </a:r>
          </a:p>
          <a:p>
            <a:pPr>
              <a:spcAft>
                <a:spcPts val="800"/>
              </a:spcAft>
              <a:defRPr sz="1600">
                <a:solidFill>
                  <a:srgbClr val="333333"/>
                </a:solidFill>
              </a:defRPr>
            </a:pPr>
            <a:r>
              <a:t>Today's goal: build geometric intuition, not memorize formulas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with a stylized vector arrow and a matrix grid. ---</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Vectors — Numbers with Direction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 vector is just an ordered list of numbers: `[age, income, data_usage]`</a:t>
            </a:r>
          </a:p>
          <a:p>
            <a:pPr>
              <a:spcAft>
                <a:spcPts val="800"/>
              </a:spcAft>
              <a:defRPr sz="1600">
                <a:solidFill>
                  <a:srgbClr val="333333"/>
                </a:solidFill>
              </a:defRPr>
            </a:pPr>
            <a:r>
              <a:t>In ML: each data point is a vector of features</a:t>
            </a:r>
          </a:p>
          <a:p>
            <a:pPr>
              <a:spcAft>
                <a:spcPts val="800"/>
              </a:spcAft>
              <a:defRPr sz="1600">
                <a:solidFill>
                  <a:srgbClr val="333333"/>
                </a:solidFill>
              </a:defRPr>
            </a:pPr>
            <a:r>
              <a:t>Geometrically: an arrow in space with magnitude and direction</a:t>
            </a:r>
          </a:p>
          <a:p>
            <a:pPr>
              <a:spcAft>
                <a:spcPts val="800"/>
              </a:spcAft>
              <a:defRPr sz="1600">
                <a:solidFill>
                  <a:srgbClr val="333333"/>
                </a:solidFill>
              </a:defRPr>
            </a:pPr>
            <a:r>
              <a:t>Example: A customer = `[25, 3_500_000, 15]` (age, income in UZS, GB/month)</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Vector as arrow diagram — 2D coordinate plane with an arrow from origin to point (3, 4). Next to it, the same concept as a customer feature list: [age=25, income=3.5M UZS, data=15GB]. ---</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Every Customer is a Point in Space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Customer A: `[22, 2_000_000, 30]` — young, lower income, heavy data user</a:t>
            </a:r>
          </a:p>
          <a:p>
            <a:pPr>
              <a:spcAft>
                <a:spcPts val="800"/>
              </a:spcAft>
              <a:defRPr sz="1600">
                <a:solidFill>
                  <a:srgbClr val="333333"/>
                </a:solidFill>
              </a:defRPr>
            </a:pPr>
            <a:r>
              <a:t>Customer B: `[45, 8_000_000, 5]` — older, higher income, light data user</a:t>
            </a:r>
          </a:p>
          <a:p>
            <a:pPr>
              <a:spcAft>
                <a:spcPts val="800"/>
              </a:spcAft>
              <a:defRPr sz="1600">
                <a:solidFill>
                  <a:srgbClr val="333333"/>
                </a:solidFill>
              </a:defRPr>
            </a:pPr>
            <a:r>
              <a:t>Plot them: each axis is a feature, each customer is a point</a:t>
            </a:r>
          </a:p>
          <a:p>
            <a:pPr>
              <a:spcAft>
                <a:spcPts val="800"/>
              </a:spcAft>
              <a:defRPr sz="1600">
                <a:solidFill>
                  <a:srgbClr val="333333"/>
                </a:solidFill>
              </a:defRPr>
            </a:pPr>
            <a:r>
              <a:t>Similar customers = points close together</a:t>
            </a:r>
          </a:p>
          <a:p>
            <a:pPr>
              <a:spcAft>
                <a:spcPts val="800"/>
              </a:spcAft>
              <a:defRPr sz="1600">
                <a:solidFill>
                  <a:srgbClr val="333333"/>
                </a:solidFill>
              </a:defRPr>
            </a:pPr>
            <a:r>
              <a:t>This is the foundation of clustering, recommendation, and similarity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3D scatter plot (simplified) — two customer points plotted in (age, income, data_usage) space. Arrows from origin to each point. Distance line between them. ---</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Adding, Scaling, and Measuring Vectors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Addition: `[1, 2] + [3, 4] = [4, 6]` — combine features</a:t>
            </a:r>
          </a:p>
          <a:p>
            <a:pPr>
              <a:spcAft>
                <a:spcPts val="800"/>
              </a:spcAft>
              <a:defRPr sz="1600">
                <a:solidFill>
                  <a:srgbClr val="333333"/>
                </a:solidFill>
              </a:defRPr>
            </a:pPr>
            <a:r>
              <a:t>Scalar multiplication: `2 * [1, 2] = [2, 4]` — scale up/down</a:t>
            </a:r>
          </a:p>
          <a:p>
            <a:pPr>
              <a:spcAft>
                <a:spcPts val="800"/>
              </a:spcAft>
              <a:defRPr sz="1600">
                <a:solidFill>
                  <a:srgbClr val="333333"/>
                </a:solidFill>
              </a:defRPr>
            </a:pPr>
            <a:r>
              <a:t>Magnitude (length): `||v|| = sqrt(v1^2 + v2^2)` — "how big" a vector is</a:t>
            </a:r>
          </a:p>
          <a:p>
            <a:pPr>
              <a:spcAft>
                <a:spcPts val="800"/>
              </a:spcAft>
              <a:defRPr sz="1600">
                <a:solidFill>
                  <a:srgbClr val="333333"/>
                </a:solidFill>
              </a:defRPr>
            </a:pPr>
            <a:r>
              <a:t>Unit vector: divide by magnitude to get direction only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2D coordinate plane showing vector addition (head-to-tail method), scalar multiplication (same direction, longer arrow), and magnitude (dotted line from tip to each axis). ---</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Dot Product — Measuring Similarity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`[1, 2, 3] . [4, 5, 6] = 1*4 + 2*5 + 3*6 = 32`</a:t>
            </a:r>
          </a:p>
          <a:p>
            <a:pPr>
              <a:spcAft>
                <a:spcPts val="800"/>
              </a:spcAft>
              <a:defRPr sz="1600">
                <a:solidFill>
                  <a:srgbClr val="333333"/>
                </a:solidFill>
              </a:defRPr>
            </a:pPr>
            <a:r>
              <a:t>Multiply corresponding elements, then sum</a:t>
            </a:r>
          </a:p>
          <a:p>
            <a:pPr>
              <a:spcAft>
                <a:spcPts val="800"/>
              </a:spcAft>
              <a:defRPr sz="1600">
                <a:solidFill>
                  <a:srgbClr val="333333"/>
                </a:solidFill>
              </a:defRPr>
            </a:pPr>
            <a:r>
              <a:t>Geometric meaning: how aligned two vectors are</a:t>
            </a:r>
          </a:p>
          <a:p>
            <a:pPr>
              <a:spcAft>
                <a:spcPts val="800"/>
              </a:spcAft>
              <a:defRPr sz="1600">
                <a:solidFill>
                  <a:srgbClr val="333333"/>
                </a:solidFill>
              </a:defRPr>
            </a:pPr>
            <a:r>
              <a:t>Large positive → similar direction</a:t>
            </a:r>
          </a:p>
          <a:p>
            <a:pPr>
              <a:spcAft>
                <a:spcPts val="800"/>
              </a:spcAft>
              <a:defRPr sz="1600">
                <a:solidFill>
                  <a:srgbClr val="333333"/>
                </a:solidFill>
              </a:defRPr>
            </a:pPr>
            <a:r>
              <a:t>Zero → perpendicular (unrelated)</a:t>
            </a:r>
          </a:p>
          <a:p>
            <a:pPr>
              <a:spcAft>
                <a:spcPts val="800"/>
              </a:spcAft>
              <a:defRPr sz="1600">
                <a:solidFill>
                  <a:srgbClr val="333333"/>
                </a:solidFill>
              </a:defRPr>
            </a:pPr>
            <a:r>
              <a:t>Negative → opposite directions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Dot product geometric interpretation — two vectors with angle theta between them. Show cases: angle = 0 (parallel, max dot product), angle = 90 (perpendicular, dot product = 0), angle = 180 (opposite, negative dot product).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Matrices — Tables of Numbers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 matrix is a 2D grid of numbers: rows and columns</a:t>
            </a:r>
          </a:p>
          <a:p>
            <a:pPr>
              <a:spcAft>
                <a:spcPts val="800"/>
              </a:spcAft>
              <a:defRPr sz="1600">
                <a:solidFill>
                  <a:srgbClr val="333333"/>
                </a:solidFill>
              </a:defRPr>
            </a:pPr>
            <a:r>
              <a:t>In ML: your entire dataset is a matrix</a:t>
            </a:r>
          </a:p>
          <a:p>
            <a:pPr>
              <a:spcAft>
                <a:spcPts val="800"/>
              </a:spcAft>
              <a:defRPr sz="1600">
                <a:solidFill>
                  <a:srgbClr val="333333"/>
                </a:solidFill>
              </a:defRPr>
            </a:pPr>
            <a:r>
              <a:t>Rows = data points (customers), Columns = features</a:t>
            </a:r>
          </a:p>
          <a:p>
            <a:pPr>
              <a:spcAft>
                <a:spcPts val="800"/>
              </a:spcAft>
              <a:defRPr sz="1600">
                <a:solidFill>
                  <a:srgbClr val="333333"/>
                </a:solidFill>
              </a:defRPr>
            </a:pPr>
            <a:r>
              <a:t>Shape notation: m x n (m rows, n columns)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The customer table above, with row and column indices labeled. Highlight that this is a 3x4 matrix. Show the same data as a plain number grid without headers. ---</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Matrix Multiplication — The Core ML Operation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Not element-wise — it's row-by-column dot products</a:t>
            </a:r>
          </a:p>
          <a:p>
            <a:pPr>
              <a:spcAft>
                <a:spcPts val="800"/>
              </a:spcAft>
              <a:defRPr sz="1600">
                <a:solidFill>
                  <a:srgbClr val="333333"/>
                </a:solidFill>
              </a:defRPr>
            </a:pPr>
            <a:r>
              <a:t>Matrix A (m x n) times Matrix B (n x p) = Result (m x p)</a:t>
            </a:r>
          </a:p>
          <a:p>
            <a:pPr>
              <a:spcAft>
                <a:spcPts val="800"/>
              </a:spcAft>
              <a:defRPr sz="1600">
                <a:solidFill>
                  <a:srgbClr val="333333"/>
                </a:solidFill>
              </a:defRPr>
            </a:pPr>
            <a:r>
              <a:t>Inner dimensions must match: (3x4) x (4x2) = (3x2)</a:t>
            </a:r>
          </a:p>
          <a:p>
            <a:pPr>
              <a:spcAft>
                <a:spcPts val="800"/>
              </a:spcAft>
              <a:defRPr sz="1600">
                <a:solidFill>
                  <a:srgbClr val="333333"/>
                </a:solidFill>
              </a:defRPr>
            </a:pPr>
            <a:r>
              <a:t>Each element in the result = dot product of a row from A and a column from B</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Matrix multiplication step-by-step visual — two matrices side by side, with one row from A highlighted and one column from B highlighted. Arrows showing element-wise multiply and sum to produce one element of the result. Animate through 2-3 positions. ---</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What's Actually Happening When You Train a Model</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Linear regression: `y = X @ w` (dataset times weights)</a:t>
            </a:r>
          </a:p>
          <a:p>
            <a:pPr>
              <a:spcAft>
                <a:spcPts val="800"/>
              </a:spcAft>
              <a:defRPr sz="1600">
                <a:solidFill>
                  <a:srgbClr val="333333"/>
                </a:solidFill>
              </a:defRPr>
            </a:pPr>
            <a:r>
              <a:t>Neural network layer: `output = activation(X @ W + b)`</a:t>
            </a:r>
          </a:p>
          <a:p>
            <a:pPr>
              <a:spcAft>
                <a:spcPts val="800"/>
              </a:spcAft>
              <a:defRPr sz="1600">
                <a:solidFill>
                  <a:srgbClr val="333333"/>
                </a:solidFill>
              </a:defRPr>
            </a:pPr>
            <a:r>
              <a:t>The entire training process is repeated matrix multiplications</a:t>
            </a:r>
          </a:p>
          <a:p>
            <a:pPr>
              <a:spcAft>
                <a:spcPts val="800"/>
              </a:spcAft>
              <a:defRPr sz="1600">
                <a:solidFill>
                  <a:srgbClr val="333333"/>
                </a:solidFill>
              </a:defRPr>
            </a:pPr>
            <a:r>
              <a:t>GPUs exist because they're extremely good at matrix multiplication</a:t>
            </a:r>
          </a:p>
          <a:p>
            <a:pPr>
              <a:spcAft>
                <a:spcPts val="800"/>
              </a:spcAft>
              <a:defRPr sz="1600">
                <a:solidFill>
                  <a:srgbClr val="333333"/>
                </a:solidFill>
              </a:defRPr>
            </a:pPr>
            <a:r>
              <a:t>NumPy: `np.dot(A, B)` or `A @ B`</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Diagram showing the flow: Input data (matrix) → multiply by weights (matrix) → predictions (vector). Label each component.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Doing Linear Algebra in Python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 = np.array([[1, 2], [3, 4]])`</a:t>
            </a:r>
          </a:p>
          <a:p>
            <a:pPr>
              <a:spcAft>
                <a:spcPts val="800"/>
              </a:spcAft>
              <a:defRPr sz="1600">
                <a:solidFill>
                  <a:srgbClr val="333333"/>
                </a:solidFill>
              </a:defRPr>
            </a:pPr>
            <a:r>
              <a:t>Multiply: `A @ B` or `np.dot(A, B)`</a:t>
            </a:r>
          </a:p>
          <a:p>
            <a:pPr>
              <a:spcAft>
                <a:spcPts val="800"/>
              </a:spcAft>
              <a:defRPr sz="1600">
                <a:solidFill>
                  <a:srgbClr val="333333"/>
                </a:solidFill>
              </a:defRPr>
            </a:pPr>
            <a:r>
              <a:t>Transpose: `A.T` — swap rows and columns</a:t>
            </a:r>
          </a:p>
          <a:p>
            <a:pPr>
              <a:spcAft>
                <a:spcPts val="800"/>
              </a:spcAft>
              <a:defRPr sz="1600">
                <a:solidFill>
                  <a:srgbClr val="333333"/>
                </a:solidFill>
              </a:defRPr>
            </a:pPr>
            <a:r>
              <a:t>Identity matrix: `np.eye(3)` — the "1" of matrices</a:t>
            </a:r>
          </a:p>
          <a:p>
            <a:pPr>
              <a:spcAft>
                <a:spcPts val="800"/>
              </a:spcAft>
              <a:defRPr sz="1600">
                <a:solidFill>
                  <a:srgbClr val="333333"/>
                </a:solidFill>
              </a:defRPr>
            </a:pPr>
            <a:r>
              <a:t>Inverse: `np.linalg.inv(A)` — undo a transformation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Code snippets with output shown beside each operation. Transpose visualized as a table being rotated. ---</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Activity 3 — Vectors and Matrices with Real Data</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Represent 5 customers as feature vectors (age, income, data usage, calls)</a:t>
            </a:r>
          </a:p>
          <a:p>
            <a:pPr>
              <a:spcAft>
                <a:spcPts val="800"/>
              </a:spcAft>
              <a:defRPr sz="1600">
                <a:solidFill>
                  <a:srgbClr val="333333"/>
                </a:solidFill>
              </a:defRPr>
            </a:pPr>
            <a:r>
              <a:t>Compute the dot product between customer pairs</a:t>
            </a:r>
          </a:p>
          <a:p>
            <a:pPr>
              <a:spcAft>
                <a:spcPts val="800"/>
              </a:spcAft>
              <a:defRPr sz="1600">
                <a:solidFill>
                  <a:srgbClr val="333333"/>
                </a:solidFill>
              </a:defRPr>
            </a:pPr>
            <a:r>
              <a:t>Interpret: which customers are most similar?</a:t>
            </a:r>
          </a:p>
          <a:p>
            <a:pPr>
              <a:spcAft>
                <a:spcPts val="800"/>
              </a:spcAft>
              <a:defRPr sz="1600">
                <a:solidFill>
                  <a:srgbClr val="333333"/>
                </a:solidFill>
              </a:defRPr>
            </a:pPr>
            <a:r>
              <a:t>Build a feature matrix, compute its transpose</a:t>
            </a:r>
          </a:p>
          <a:p>
            <a:pPr>
              <a:spcAft>
                <a:spcPts val="800"/>
              </a:spcAft>
              <a:defRPr sz="1600">
                <a:solidFill>
                  <a:srgbClr val="333333"/>
                </a:solidFill>
              </a:defRPr>
            </a:pPr>
            <a:r>
              <a:t>Bonus: compute a correlation matrix manually using dot products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Activity worksheet — table of 5 customers with feature columns, space for dot product calculations. ---</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to Remember</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 vector = one data point = one row in your dataset</a:t>
            </a:r>
          </a:p>
          <a:p>
            <a:pPr>
              <a:spcAft>
                <a:spcPts val="800"/>
              </a:spcAft>
              <a:defRPr sz="1600">
                <a:solidFill>
                  <a:srgbClr val="333333"/>
                </a:solidFill>
              </a:defRPr>
            </a:pPr>
            <a:r>
              <a:t>A matrix = your entire dataset</a:t>
            </a:r>
          </a:p>
          <a:p>
            <a:pPr>
              <a:spcAft>
                <a:spcPts val="800"/>
              </a:spcAft>
              <a:defRPr sz="1600">
                <a:solidFill>
                  <a:srgbClr val="333333"/>
                </a:solidFill>
              </a:defRPr>
            </a:pPr>
            <a:r>
              <a:t>Dot product = similarity measure between vectors</a:t>
            </a:r>
          </a:p>
          <a:p>
            <a:pPr>
              <a:spcAft>
                <a:spcPts val="800"/>
              </a:spcAft>
              <a:defRPr sz="1600">
                <a:solidFill>
                  <a:srgbClr val="333333"/>
                </a:solidFill>
              </a:defRPr>
            </a:pPr>
            <a:r>
              <a:t>Matrix multiplication = the engine of ML predictions</a:t>
            </a:r>
          </a:p>
          <a:p>
            <a:pPr>
              <a:spcAft>
                <a:spcPts val="800"/>
              </a:spcAft>
              <a:defRPr sz="1600">
                <a:solidFill>
                  <a:srgbClr val="333333"/>
                </a:solidFill>
              </a:defRPr>
            </a:pPr>
            <a:r>
              <a:t>You don't need to be a mathematician — you need to understand what the operations mean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Summary diagram — connecting each concept to its ML application: Vector → Features, Matrix → Dataset, Dot Product → Similarity, MatMul → Prediction. ---</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Next Class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Watch: 3Blue1Brown — Essence of Linear Algebra, Chapters 1-4 (required, ~1.5h)</a:t>
            </a:r>
          </a:p>
          <a:p>
            <a:pPr>
              <a:spcAft>
                <a:spcPts val="800"/>
              </a:spcAft>
              <a:defRPr sz="1600">
                <a:solidFill>
                  <a:srgbClr val="333333"/>
                </a:solidFill>
              </a:defRPr>
            </a:pPr>
            <a:r>
              <a:t>Practice: Create 2D and 3D NumPy arrays, perform dot products and matrix multiplications</a:t>
            </a:r>
          </a:p>
          <a:p>
            <a:pPr>
              <a:spcAft>
                <a:spcPts val="800"/>
              </a:spcAft>
              <a:defRPr sz="1600">
                <a:solidFill>
                  <a:srgbClr val="333333"/>
                </a:solidFill>
              </a:defRPr>
            </a:pPr>
            <a:r>
              <a:t>[ACTIVITY] Activity 3 continued: complete the customer similarity calculations</a:t>
            </a:r>
          </a:p>
          <a:p>
            <a:pPr>
              <a:spcAft>
                <a:spcPts val="800"/>
              </a:spcAft>
              <a:defRPr sz="1600">
                <a:solidFill>
                  <a:srgbClr val="333333"/>
                </a:solidFill>
              </a:defRPr>
            </a:pPr>
            <a:r>
              <a:t>Think about: Why does distance between feature vectors tell us about customer similarity?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Homework checklist with 3Blue1Brown video thumbnail and link. ---</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5: Calculus, Probability, and Statistics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Calculus, Probability, and Statistics for ML</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2, Class 5</a:t>
            </a:r>
          </a:p>
          <a:p>
            <a:pPr>
              <a:spcAft>
                <a:spcPts val="800"/>
              </a:spcAft>
              <a:defRPr sz="1600">
                <a:solidFill>
                  <a:srgbClr val="333333"/>
                </a:solidFill>
              </a:defRPr>
            </a:pPr>
            <a:r>
              <a:t>Derivatives and gradient descent — how models learn</a:t>
            </a:r>
          </a:p>
          <a:p>
            <a:pPr>
              <a:spcAft>
                <a:spcPts val="800"/>
              </a:spcAft>
              <a:defRPr sz="1600">
                <a:solidFill>
                  <a:srgbClr val="333333"/>
                </a:solidFill>
              </a:defRPr>
            </a:pPr>
            <a:r>
              <a:t>Probability distributions and Bayes' theorem</a:t>
            </a:r>
          </a:p>
          <a:p>
            <a:pPr>
              <a:spcAft>
                <a:spcPts val="800"/>
              </a:spcAft>
              <a:defRPr sz="1600">
                <a:solidFill>
                  <a:srgbClr val="333333"/>
                </a:solidFill>
              </a:defRPr>
            </a:pPr>
            <a:r>
              <a:t>Today's goal: understand the math that drives model training</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with three icons — a slope/tangent line (calculus), a bell curve (statistics), a Bayes diagram (probability). ---</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Derivatives — The Slope of a Curve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 derivative tells you the rate of change at any point</a:t>
            </a:r>
          </a:p>
          <a:p>
            <a:pPr>
              <a:spcAft>
                <a:spcPts val="800"/>
              </a:spcAft>
              <a:defRPr sz="1600">
                <a:solidFill>
                  <a:srgbClr val="333333"/>
                </a:solidFill>
              </a:defRPr>
            </a:pPr>
            <a:r>
              <a:t>Slope of a line: rise over run, constant everywhere</a:t>
            </a:r>
          </a:p>
          <a:p>
            <a:pPr>
              <a:spcAft>
                <a:spcPts val="800"/>
              </a:spcAft>
              <a:defRPr sz="1600">
                <a:solidFill>
                  <a:srgbClr val="333333"/>
                </a:solidFill>
              </a:defRPr>
            </a:pPr>
            <a:r>
              <a:t>Slope of a curve: changes at every point — that's the derivative</a:t>
            </a:r>
          </a:p>
          <a:p>
            <a:pPr>
              <a:spcAft>
                <a:spcPts val="800"/>
              </a:spcAft>
              <a:defRPr sz="1600">
                <a:solidFill>
                  <a:srgbClr val="333333"/>
                </a:solidFill>
              </a:defRPr>
            </a:pPr>
            <a:r>
              <a:t>Positive derivative = function going up; negative = going down; zero = flat (peak or valley)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Derivative as slope visual — a curve (parabola) with a tangent line drawn at three points: one going up (positive slope), one at the bottom (zero slope), one going down (negative slope). Labels at each point. ---</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How Wrong is Our Model? — The Loss Function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Loss function measures the gap between prediction and reality</a:t>
            </a:r>
          </a:p>
          <a:p>
            <a:pPr>
              <a:spcAft>
                <a:spcPts val="800"/>
              </a:spcAft>
              <a:defRPr sz="1600">
                <a:solidFill>
                  <a:srgbClr val="333333"/>
                </a:solidFill>
              </a:defRPr>
            </a:pPr>
            <a:r>
              <a:t>Simple example: Mean Squared Error = average of (predicted - actual)^2</a:t>
            </a:r>
          </a:p>
          <a:p>
            <a:pPr>
              <a:spcAft>
                <a:spcPts val="800"/>
              </a:spcAft>
              <a:defRPr sz="1600">
                <a:solidFill>
                  <a:srgbClr val="333333"/>
                </a:solidFill>
              </a:defRPr>
            </a:pPr>
            <a:r>
              <a:t>Low loss = good predictions; high loss = bad predictions</a:t>
            </a:r>
          </a:p>
          <a:p>
            <a:pPr>
              <a:spcAft>
                <a:spcPts val="800"/>
              </a:spcAft>
              <a:defRPr sz="1600">
                <a:solidFill>
                  <a:srgbClr val="333333"/>
                </a:solidFill>
              </a:defRPr>
            </a:pPr>
            <a:r>
              <a:t>Our goal: find the model parameters that minimize the loss</a:t>
            </a:r>
          </a:p>
          <a:p>
            <a:pPr>
              <a:spcAft>
                <a:spcPts val="800"/>
              </a:spcAft>
              <a:defRPr sz="1600">
                <a:solidFill>
                  <a:srgbClr val="333333"/>
                </a:solidFill>
              </a:defRPr>
            </a:pPr>
            <a:r>
              <a:t>The loss is a function of the weights — it forms a surface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Loss function concept — a plot where x-axis is a model parameter (e.g., slope of a line), y-axis is the loss value. The curve is U-shaped. The minimum point is labeled "Best parameter value."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Gradient Descent — Walking Downhill to Find the Best Model</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Start with random parameters</a:t>
            </a:r>
          </a:p>
          <a:p>
            <a:pPr>
              <a:spcAft>
                <a:spcPts val="800"/>
              </a:spcAft>
              <a:defRPr sz="1600">
                <a:solidFill>
                  <a:srgbClr val="333333"/>
                </a:solidFill>
              </a:defRPr>
            </a:pPr>
            <a:r>
              <a:t>Compute the gradient (slope) of the loss</a:t>
            </a:r>
          </a:p>
          <a:p>
            <a:pPr>
              <a:spcAft>
                <a:spcPts val="800"/>
              </a:spcAft>
              <a:defRPr sz="1600">
                <a:solidFill>
                  <a:srgbClr val="333333"/>
                </a:solidFill>
              </a:defRPr>
            </a:pPr>
            <a:r>
              <a:t>Take a step in the direction that reduces the loss</a:t>
            </a:r>
          </a:p>
          <a:p>
            <a:pPr>
              <a:spcAft>
                <a:spcPts val="800"/>
              </a:spcAft>
              <a:defRPr sz="1600">
                <a:solidFill>
                  <a:srgbClr val="333333"/>
                </a:solidFill>
              </a:defRPr>
            </a:pPr>
            <a:r>
              <a:t>Repeat until you reach the bottom (minimum loss)</a:t>
            </a:r>
          </a:p>
          <a:p>
            <a:pPr>
              <a:spcAft>
                <a:spcPts val="800"/>
              </a:spcAft>
              <a:defRPr sz="1600">
                <a:solidFill>
                  <a:srgbClr val="333333"/>
                </a:solidFill>
              </a:defRPr>
            </a:pPr>
            <a:r>
              <a:t>Learning rate controls step size — too big = overshoot, too small = slow</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Gradient descent as walking downhill — a 3D loss surface (bowl shape) with a ball rolling downhill in steps. Each step labeled with an arrow. Show three scenarios: good learning rate (reaches bottom), too large (bounces around), too small (barely moves). ---</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Fitting a Line to Data</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We have data points: Tashkent apartment sizes and rents</a:t>
            </a:r>
          </a:p>
          <a:p>
            <a:pPr>
              <a:spcAft>
                <a:spcPts val="800"/>
              </a:spcAft>
              <a:defRPr sz="1600">
                <a:solidFill>
                  <a:srgbClr val="333333"/>
                </a:solidFill>
              </a:defRPr>
            </a:pPr>
            <a:r>
              <a:t>Model: `rent = w * size + b` (linear regression)</a:t>
            </a:r>
          </a:p>
          <a:p>
            <a:pPr>
              <a:spcAft>
                <a:spcPts val="800"/>
              </a:spcAft>
              <a:defRPr sz="1600">
                <a:solidFill>
                  <a:srgbClr val="333333"/>
                </a:solidFill>
              </a:defRPr>
            </a:pPr>
            <a:r>
              <a:t>Loss: MSE between predicted and actual rents</a:t>
            </a:r>
          </a:p>
          <a:p>
            <a:pPr>
              <a:spcAft>
                <a:spcPts val="800"/>
              </a:spcAft>
              <a:defRPr sz="1600">
                <a:solidFill>
                  <a:srgbClr val="333333"/>
                </a:solidFill>
              </a:defRPr>
            </a:pPr>
            <a:r>
              <a:t>Gradient descent adjusts w and b to minimize MSE</a:t>
            </a:r>
          </a:p>
          <a:p>
            <a:pPr>
              <a:spcAft>
                <a:spcPts val="800"/>
              </a:spcAft>
              <a:defRPr sz="1600">
                <a:solidFill>
                  <a:srgbClr val="333333"/>
                </a:solidFill>
              </a:defRPr>
            </a:pPr>
            <a:r>
              <a:t>After many iterations: the line fits the data</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Scatter plot of apartment data with an evolving best-fit line — show 3 iterations: bad fit (random), better fit (after 10 steps), good fit (converged). Arrows showing the line rotating into position. ---</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Multiple Parameters = Multiple Slopes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When the loss depends on multiple parameters, each gets its own derivative</a:t>
            </a:r>
          </a:p>
          <a:p>
            <a:pPr>
              <a:spcAft>
                <a:spcPts val="800"/>
              </a:spcAft>
              <a:defRPr sz="1600">
                <a:solidFill>
                  <a:srgbClr val="333333"/>
                </a:solidFill>
              </a:defRPr>
            </a:pPr>
            <a:r>
              <a:t>Partial derivative: the slope with respect to one parameter, holding others constant</a:t>
            </a:r>
          </a:p>
          <a:p>
            <a:pPr>
              <a:spcAft>
                <a:spcPts val="800"/>
              </a:spcAft>
              <a:defRPr sz="1600">
                <a:solidFill>
                  <a:srgbClr val="333333"/>
                </a:solidFill>
              </a:defRPr>
            </a:pPr>
            <a:r>
              <a:t>Gradient = vector of all partial derivatives</a:t>
            </a:r>
          </a:p>
          <a:p>
            <a:pPr>
              <a:spcAft>
                <a:spcPts val="800"/>
              </a:spcAft>
              <a:defRPr sz="1600">
                <a:solidFill>
                  <a:srgbClr val="333333"/>
                </a:solidFill>
              </a:defRPr>
            </a:pPr>
            <a:r>
              <a:t>Points in the direction of steepest increase (we go the opposite way)</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Loss surface 3D visual — a bowl-shaped surface over a 2D parameter plane (w, b). Gradient arrows on the surface pointing uphill. Descent path marked going downhill to the minimum.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Probability — Quantifying "How Likely?"</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Probability: a number between 0 (impossible) and 1 (certain)</a:t>
            </a:r>
          </a:p>
          <a:p>
            <a:pPr>
              <a:spcAft>
                <a:spcPts val="800"/>
              </a:spcAft>
              <a:defRPr sz="1600">
                <a:solidFill>
                  <a:srgbClr val="333333"/>
                </a:solidFill>
              </a:defRPr>
            </a:pPr>
            <a:r>
              <a:t>P(customer churns) = 0.15 → 15% chance of leaving</a:t>
            </a:r>
          </a:p>
          <a:p>
            <a:pPr>
              <a:spcAft>
                <a:spcPts val="800"/>
              </a:spcAft>
              <a:defRPr sz="1600">
                <a:solidFill>
                  <a:srgbClr val="333333"/>
                </a:solidFill>
              </a:defRPr>
            </a:pPr>
            <a:r>
              <a:t>Joint probability: P(A and B) — both events happening</a:t>
            </a:r>
          </a:p>
          <a:p>
            <a:pPr>
              <a:spcAft>
                <a:spcPts val="800"/>
              </a:spcAft>
              <a:defRPr sz="1600">
                <a:solidFill>
                  <a:srgbClr val="333333"/>
                </a:solidFill>
              </a:defRPr>
            </a:pPr>
            <a:r>
              <a:t>Conditional probability: P(A | B) — probability of A given B already happened</a:t>
            </a:r>
          </a:p>
          <a:p>
            <a:pPr>
              <a:spcAft>
                <a:spcPts val="800"/>
              </a:spcAft>
              <a:defRPr sz="1600">
                <a:solidFill>
                  <a:srgbClr val="333333"/>
                </a:solidFill>
              </a:defRPr>
            </a:pPr>
            <a:r>
              <a:t>ML predictions are probabilities: "This email is 94% likely to be spam"</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Probability scale bar — 0 (impossible) to 1 (certain), with examples placed along it: 0.01 (meteorite hits your house), 0.15 (customer churns), 0.5 (coin flip), 0.94 (spam classification), 1.0 (sun rises tomorrow).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Distributions — The Shape of Randomness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Uniform: every outcome equally likely (rolling a fair die)</a:t>
            </a:r>
          </a:p>
          <a:p>
            <a:pPr>
              <a:spcAft>
                <a:spcPts val="800"/>
              </a:spcAft>
              <a:defRPr sz="1600">
                <a:solidFill>
                  <a:srgbClr val="333333"/>
                </a:solidFill>
              </a:defRPr>
            </a:pPr>
            <a:r>
              <a:t>Normal (Gaussian): bell curve — most values near the mean (heights, test scores)</a:t>
            </a:r>
          </a:p>
          <a:p>
            <a:pPr>
              <a:spcAft>
                <a:spcPts val="800"/>
              </a:spcAft>
              <a:defRPr sz="1600">
                <a:solidFill>
                  <a:srgbClr val="333333"/>
                </a:solidFill>
              </a:defRPr>
            </a:pPr>
            <a:r>
              <a:t>Binomial: number of successes in n trials (how many customers out of 100 churn?)</a:t>
            </a:r>
          </a:p>
          <a:p>
            <a:pPr>
              <a:spcAft>
                <a:spcPts val="800"/>
              </a:spcAft>
              <a:defRPr sz="1600">
                <a:solidFill>
                  <a:srgbClr val="333333"/>
                </a:solidFill>
              </a:defRPr>
            </a:pPr>
            <a:r>
              <a:t>Key stats: mean (center), variance (spread), standard deviation (sqrt of variance)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Three distribution plots side by side — Uniform (flat rectangle), Normal (bell curve with mean and std dev marked), Binomial (bar chart for n=20, p=0.3). Label mean and spread on each. ---</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The Bell Curve — Why It's Everywhere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Most real-world measurements are approximately normal</a:t>
            </a:r>
          </a:p>
          <a:p>
            <a:pPr>
              <a:spcAft>
                <a:spcPts val="800"/>
              </a:spcAft>
              <a:defRPr sz="1600">
                <a:solidFill>
                  <a:srgbClr val="333333"/>
                </a:solidFill>
              </a:defRPr>
            </a:pPr>
            <a:r>
              <a:t>Defined by just two parameters: mean (mu) and standard deviation (sigma)</a:t>
            </a:r>
          </a:p>
          <a:p>
            <a:pPr>
              <a:spcAft>
                <a:spcPts val="800"/>
              </a:spcAft>
              <a:defRPr sz="1600">
                <a:solidFill>
                  <a:srgbClr val="333333"/>
                </a:solidFill>
              </a:defRPr>
            </a:pPr>
            <a:r>
              <a:t>68-95-99.7 rule: 68% within 1 std, 95% within 2, 99.7% within 3</a:t>
            </a:r>
          </a:p>
          <a:p>
            <a:pPr>
              <a:spcAft>
                <a:spcPts val="800"/>
              </a:spcAft>
              <a:defRPr sz="1600">
                <a:solidFill>
                  <a:srgbClr val="333333"/>
                </a:solidFill>
              </a:defRPr>
            </a:pPr>
            <a:r>
              <a:t>Central Limit Theorem: averages of random samples tend toward normal, regardless of the original distribution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Bell curve with the 68-95-99.7 rule illustrated — shaded regions at 1, 2, 3 standard deviations from the mean, each labeled with the percentage. ---</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Bayes' Theorem — Updating Beliefs with Evidence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P(A|B) = P(B|A) * P(A) / P(B)</a:t>
            </a:r>
          </a:p>
          <a:p>
            <a:pPr>
              <a:spcAft>
                <a:spcPts val="800"/>
              </a:spcAft>
              <a:defRPr sz="1600">
                <a:solidFill>
                  <a:srgbClr val="333333"/>
                </a:solidFill>
              </a:defRPr>
            </a:pPr>
            <a:r>
              <a:t>In words: "How should I update my belief in A after seeing evidence B?"</a:t>
            </a:r>
          </a:p>
          <a:p>
            <a:pPr>
              <a:spcAft>
                <a:spcPts val="800"/>
              </a:spcAft>
              <a:defRPr sz="1600">
                <a:solidFill>
                  <a:srgbClr val="333333"/>
                </a:solidFill>
              </a:defRPr>
            </a:pPr>
            <a:r>
              <a:t>Example: A customer complains (B). What's the probability they'll churn (A)?</a:t>
            </a:r>
          </a:p>
          <a:p>
            <a:pPr>
              <a:spcAft>
                <a:spcPts val="800"/>
              </a:spcAft>
              <a:defRPr sz="1600">
                <a:solidFill>
                  <a:srgbClr val="333333"/>
                </a:solidFill>
              </a:defRPr>
            </a:pPr>
            <a:r>
              <a:t>Prior: P(churn) = 15% (base rate)</a:t>
            </a:r>
          </a:p>
          <a:p>
            <a:pPr>
              <a:spcAft>
                <a:spcPts val="800"/>
              </a:spcAft>
              <a:defRPr sz="1600">
                <a:solidFill>
                  <a:srgbClr val="333333"/>
                </a:solidFill>
              </a:defRPr>
            </a:pPr>
            <a:r>
              <a:t>Likelihood: P(complaint | churn) = 60% (churners complain more)</a:t>
            </a:r>
          </a:p>
          <a:p>
            <a:pPr>
              <a:spcAft>
                <a:spcPts val="800"/>
              </a:spcAft>
              <a:defRPr sz="1600">
                <a:solidFill>
                  <a:srgbClr val="333333"/>
                </a:solidFill>
              </a:defRPr>
            </a:pPr>
            <a:r>
              <a:t>Evidence: P(complaint) = 25% (overall complaint rate)</a:t>
            </a:r>
          </a:p>
          <a:p>
            <a:pPr>
              <a:spcAft>
                <a:spcPts val="800"/>
              </a:spcAft>
              <a:defRPr sz="1600">
                <a:solidFill>
                  <a:srgbClr val="333333"/>
                </a:solidFill>
              </a:defRPr>
            </a:pPr>
            <a:r>
              <a:t>Posterior: P(churn | complaint) = 0.60 * 0.15 / 0.25 = 36%</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Bayes' theorem diagram — tree diagram showing the branching probabilities. Start with Churn/No Churn, then branch into Complaint/No Complaint. Highlight the path: Churn → Complaint. Show the calculation step by step. ---</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Statistics You Already Know (And Need for ML)</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Mean: average — sensitive to outliers</a:t>
            </a:r>
          </a:p>
          <a:p>
            <a:pPr>
              <a:spcAft>
                <a:spcPts val="800"/>
              </a:spcAft>
              <a:defRPr sz="1600">
                <a:solidFill>
                  <a:srgbClr val="333333"/>
                </a:solidFill>
              </a:defRPr>
            </a:pPr>
            <a:r>
              <a:t>Median: middle value — robust to outliers</a:t>
            </a:r>
          </a:p>
          <a:p>
            <a:pPr>
              <a:spcAft>
                <a:spcPts val="800"/>
              </a:spcAft>
              <a:defRPr sz="1600">
                <a:solidFill>
                  <a:srgbClr val="333333"/>
                </a:solidFill>
              </a:defRPr>
            </a:pPr>
            <a:r>
              <a:t>Mode: most frequent value</a:t>
            </a:r>
          </a:p>
          <a:p>
            <a:pPr>
              <a:spcAft>
                <a:spcPts val="800"/>
              </a:spcAft>
              <a:defRPr sz="1600">
                <a:solidFill>
                  <a:srgbClr val="333333"/>
                </a:solidFill>
              </a:defRPr>
            </a:pPr>
            <a:r>
              <a:t>Standard deviation: how spread out the data is</a:t>
            </a:r>
          </a:p>
          <a:p>
            <a:pPr>
              <a:spcAft>
                <a:spcPts val="800"/>
              </a:spcAft>
              <a:defRPr sz="1600">
                <a:solidFill>
                  <a:srgbClr val="333333"/>
                </a:solidFill>
              </a:defRPr>
            </a:pPr>
            <a:r>
              <a:t>Percentiles: Q1 (25th), Q2 (50th = median), Q3 (75th)</a:t>
            </a:r>
          </a:p>
          <a:p>
            <a:pPr>
              <a:spcAft>
                <a:spcPts val="800"/>
              </a:spcAft>
              <a:defRPr sz="1600">
                <a:solidFill>
                  <a:srgbClr val="333333"/>
                </a:solidFill>
              </a:defRPr>
            </a:pPr>
            <a:r>
              <a:t>These are the numbers behind `df.describe()`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 histogram with overlay lines marking mean, median, and standard deviation. Show a skewed distribution where mean and median differ. ---</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Hypothesis Testing — Is This Result Real or Random?</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Null hypothesis (H0): "There's no difference" / "This happened by chance"</a:t>
            </a:r>
          </a:p>
          <a:p>
            <a:pPr>
              <a:spcAft>
                <a:spcPts val="800"/>
              </a:spcAft>
              <a:defRPr sz="1600">
                <a:solidFill>
                  <a:srgbClr val="333333"/>
                </a:solidFill>
              </a:defRPr>
            </a:pPr>
            <a:r>
              <a:t>Alternative hypothesis (H1): "There is a real effect"</a:t>
            </a:r>
          </a:p>
          <a:p>
            <a:pPr>
              <a:spcAft>
                <a:spcPts val="800"/>
              </a:spcAft>
              <a:defRPr sz="1600">
                <a:solidFill>
                  <a:srgbClr val="333333"/>
                </a:solidFill>
              </a:defRPr>
            </a:pPr>
            <a:r>
              <a:t>p-value: probability of seeing this result if H0 is true</a:t>
            </a:r>
          </a:p>
          <a:p>
            <a:pPr>
              <a:spcAft>
                <a:spcPts val="800"/>
              </a:spcAft>
              <a:defRPr sz="1600">
                <a:solidFill>
                  <a:srgbClr val="333333"/>
                </a:solidFill>
              </a:defRPr>
            </a:pPr>
            <a:r>
              <a:t>p &lt; 0.05 → reject H0, the result is statistically significant</a:t>
            </a:r>
          </a:p>
          <a:p>
            <a:pPr>
              <a:spcAft>
                <a:spcPts val="800"/>
              </a:spcAft>
              <a:defRPr sz="1600">
                <a:solidFill>
                  <a:srgbClr val="333333"/>
                </a:solidFill>
              </a:defRPr>
            </a:pPr>
            <a:r>
              <a:t>ML application: Is this feature actually useful? Is model A actually better than model B?</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Two overlapping bell curves — one for "null hypothesis" (no effect), one for "alternative hypothesis." Shade the tail area (p-value region) on the null curve. ---</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Everything Connects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Linear algebra → Data representation, model computation</a:t>
            </a:r>
          </a:p>
          <a:p>
            <a:pPr>
              <a:spcAft>
                <a:spcPts val="800"/>
              </a:spcAft>
              <a:defRPr sz="1600">
                <a:solidFill>
                  <a:srgbClr val="333333"/>
                </a:solidFill>
              </a:defRPr>
            </a:pPr>
            <a:r>
              <a:t>Calculus → Training models via gradient descent</a:t>
            </a:r>
          </a:p>
          <a:p>
            <a:pPr>
              <a:spcAft>
                <a:spcPts val="800"/>
              </a:spcAft>
              <a:defRPr sz="1600">
                <a:solidFill>
                  <a:srgbClr val="333333"/>
                </a:solidFill>
              </a:defRPr>
            </a:pPr>
            <a:r>
              <a:t>Probability → Predictions as likelihoods, Bayesian reasoning</a:t>
            </a:r>
          </a:p>
          <a:p>
            <a:pPr>
              <a:spcAft>
                <a:spcPts val="800"/>
              </a:spcAft>
              <a:defRPr sz="1600">
                <a:solidFill>
                  <a:srgbClr val="333333"/>
                </a:solidFill>
              </a:defRPr>
            </a:pPr>
            <a:r>
              <a:t>Statistics → Understanding data, evaluating models</a:t>
            </a:r>
          </a:p>
          <a:p>
            <a:pPr>
              <a:spcAft>
                <a:spcPts val="800"/>
              </a:spcAft>
              <a:defRPr sz="1600">
                <a:solidFill>
                  <a:srgbClr val="333333"/>
                </a:solidFill>
              </a:defRPr>
            </a:pPr>
            <a:r>
              <a:t>You now have the mathematical vocabulary for ML</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Four quadrants — Linear Algebra, Calculus, Probability, Statistics — each with an icon and its ML connection. Arrows from each to a central "Machine Learning" circle. ---</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the Lab</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Watch: 3Blue1Brown — "What is a gradient?" and "Gradient descent, how neural networks learn"</a:t>
            </a:r>
          </a:p>
          <a:p>
            <a:pPr>
              <a:spcAft>
                <a:spcPts val="800"/>
              </a:spcAft>
              <a:defRPr sz="1600">
                <a:solidFill>
                  <a:srgbClr val="333333"/>
                </a:solidFill>
              </a:defRPr>
            </a:pPr>
            <a:r>
              <a:t>Watch: StatQuest — "Histograms" and "P-values" (optional but helpful)</a:t>
            </a:r>
          </a:p>
          <a:p>
            <a:pPr>
              <a:spcAft>
                <a:spcPts val="800"/>
              </a:spcAft>
              <a:defRPr sz="1600">
                <a:solidFill>
                  <a:srgbClr val="333333"/>
                </a:solidFill>
              </a:defRPr>
            </a:pPr>
            <a:r>
              <a:t>Review: your Activity 3 calculations — ensure dot products are correct</a:t>
            </a:r>
          </a:p>
          <a:p>
            <a:pPr>
              <a:spcAft>
                <a:spcPts val="800"/>
              </a:spcAft>
              <a:defRPr sz="1600">
                <a:solidFill>
                  <a:srgbClr val="333333"/>
                </a:solidFill>
              </a:defRPr>
            </a:pPr>
            <a:r>
              <a:t>Prepare: download Superstore dataset to Colab — we're doing a full EDA lab next class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Homework checklist with video thumbnails and links. ---</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731520" y="1828800"/>
            <a:ext cx="7680960" cy="1371600"/>
          </a:xfrm>
          <a:prstGeom prst="rect">
            <a:avLst/>
          </a:prstGeom>
          <a:noFill/>
        </p:spPr>
        <p:txBody>
          <a:bodyPr wrap="square">
            <a:spAutoFit/>
          </a:bodyPr>
          <a:lstStyle/>
          <a:p>
            <a:pPr>
              <a:defRPr sz="3200" b="1">
                <a:solidFill>
                  <a:srgbClr val="FFFFFF"/>
                </a:solidFill>
              </a:defRPr>
            </a:pPr>
            <a:r>
              <a:t>CLASS 6: Lab — EDA + Google Cloud Overview + Activity 4 (1.5h)</a:t>
            </a:r>
          </a:p>
        </p:txBody>
      </p:sp>
      <p:sp>
        <p:nvSpPr>
          <p:cNvPr id="3" name="TextBox 2"/>
          <p:cNvSpPr txBox="1"/>
          <p:nvPr/>
        </p:nvSpPr>
        <p:spPr>
          <a:xfrm>
            <a:off x="731520" y="3474720"/>
            <a:ext cx="7680960" cy="914400"/>
          </a:xfrm>
          <a:prstGeom prst="rect">
            <a:avLst/>
          </a:prstGeom>
          <a:noFill/>
        </p:spPr>
        <p:txBody>
          <a:bodyPr wrap="square">
            <a:spAutoFit/>
          </a:bodyPr>
          <a:lstStyle/>
          <a:p>
            <a:pPr>
              <a:defRPr sz="1600">
                <a:solidFill>
                  <a:srgbClr val="BDC3C7"/>
                </a:solidFill>
              </a:defRPr>
            </a:pP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Lab Day — EDA, Google Cloud, and Customer Segmentation</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Module 2, Class 6</a:t>
            </a:r>
          </a:p>
          <a:p>
            <a:pPr>
              <a:spcAft>
                <a:spcPts val="800"/>
              </a:spcAft>
              <a:defRPr sz="1600">
                <a:solidFill>
                  <a:srgbClr val="333333"/>
                </a:solidFill>
              </a:defRPr>
            </a:pPr>
            <a:r>
              <a:t>Part 1: EDA workflow recap (20 min)</a:t>
            </a:r>
          </a:p>
          <a:p>
            <a:pPr>
              <a:spcAft>
                <a:spcPts val="800"/>
              </a:spcAft>
              <a:defRPr sz="1600">
                <a:solidFill>
                  <a:srgbClr val="333333"/>
                </a:solidFill>
              </a:defRPr>
            </a:pPr>
            <a:r>
              <a:t>Part 2: Google Cloud for Data Science — conceptual overview (25 min)</a:t>
            </a:r>
          </a:p>
          <a:p>
            <a:pPr>
              <a:spcAft>
                <a:spcPts val="800"/>
              </a:spcAft>
              <a:defRPr sz="1600">
                <a:solidFill>
                  <a:srgbClr val="333333"/>
                </a:solidFill>
              </a:defRPr>
            </a:pPr>
            <a:r>
              <a:t>Part 3: Activity 4 — Customer Segmentation Simulation (40 min)</a:t>
            </a:r>
          </a:p>
          <a:p>
            <a:pPr>
              <a:spcAft>
                <a:spcPts val="800"/>
              </a:spcAft>
              <a:defRPr sz="1600">
                <a:solidFill>
                  <a:srgbClr val="333333"/>
                </a:solidFill>
              </a:defRPr>
            </a:pPr>
            <a:r>
              <a:t>Wrap-up and module review (15 min)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Title card with three-part agenda, time allocations shown as a horizontal bar.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The Standard EDA Process</a:t>
            </a:r>
          </a:p>
        </p:txBody>
      </p:sp>
      <p:sp>
        <p:nvSpPr>
          <p:cNvPr id="4" name="TextBox 3"/>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Flowchart — five steps connected with arrows, with a feedback loop from step 5 back to step 3 (showing iteration). ---</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Before You Model: The EDA Checklist</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How many rows and columns?</a:t>
            </a:r>
          </a:p>
          <a:p>
            <a:pPr>
              <a:spcAft>
                <a:spcPts val="800"/>
              </a:spcAft>
              <a:defRPr sz="1600">
                <a:solidFill>
                  <a:srgbClr val="333333"/>
                </a:solidFill>
              </a:defRPr>
            </a:pPr>
            <a:r>
              <a:t>Any missing values? How many, in which columns?</a:t>
            </a:r>
          </a:p>
          <a:p>
            <a:pPr>
              <a:spcAft>
                <a:spcPts val="800"/>
              </a:spcAft>
              <a:defRPr sz="1600">
                <a:solidFill>
                  <a:srgbClr val="333333"/>
                </a:solidFill>
              </a:defRPr>
            </a:pPr>
            <a:r>
              <a:t>What are the data types? Any mismatches (numbers stored as strings)?</a:t>
            </a:r>
          </a:p>
          <a:p>
            <a:pPr>
              <a:spcAft>
                <a:spcPts val="800"/>
              </a:spcAft>
              <a:defRPr sz="1600">
                <a:solidFill>
                  <a:srgbClr val="333333"/>
                </a:solidFill>
              </a:defRPr>
            </a:pPr>
            <a:r>
              <a:t>What do the distributions look like? Any extreme outliers?</a:t>
            </a:r>
          </a:p>
          <a:p>
            <a:pPr>
              <a:spcAft>
                <a:spcPts val="800"/>
              </a:spcAft>
              <a:defRPr sz="1600">
                <a:solidFill>
                  <a:srgbClr val="333333"/>
                </a:solidFill>
              </a:defRPr>
            </a:pPr>
            <a:r>
              <a:t>Which variables correlate with each other?</a:t>
            </a:r>
          </a:p>
          <a:p>
            <a:pPr>
              <a:spcAft>
                <a:spcPts val="800"/>
              </a:spcAft>
              <a:defRPr sz="1600">
                <a:solidFill>
                  <a:srgbClr val="333333"/>
                </a:solidFill>
              </a:defRPr>
            </a:pPr>
            <a:r>
              <a:t>Are there any duplicates?</a:t>
            </a:r>
          </a:p>
          <a:p>
            <a:pPr>
              <a:spcAft>
                <a:spcPts val="800"/>
              </a:spcAft>
              <a:defRPr sz="1600">
                <a:solidFill>
                  <a:srgbClr val="333333"/>
                </a:solidFill>
              </a:defRPr>
            </a:pPr>
            <a:r>
              <a:t>What's the target variable's distribution (if supervised learning)?</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Printable checklist layout — checkbox next to each item. Clean, minimal design. ---</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Google Cloud Platform — The Big Picture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Cloud = someone else's computers that you rent</a:t>
            </a:r>
          </a:p>
          <a:p>
            <a:pPr>
              <a:spcAft>
                <a:spcPts val="800"/>
              </a:spcAft>
              <a:defRPr sz="1600">
                <a:solidFill>
                  <a:srgbClr val="333333"/>
                </a:solidFill>
              </a:defRPr>
            </a:pPr>
            <a:r>
              <a:t>Why cloud? Scale, GPUs/TPUs, managed services, collaboration</a:t>
            </a:r>
          </a:p>
          <a:p>
            <a:pPr>
              <a:spcAft>
                <a:spcPts val="800"/>
              </a:spcAft>
              <a:defRPr sz="1600">
                <a:solidFill>
                  <a:srgbClr val="333333"/>
                </a:solidFill>
              </a:defRPr>
            </a:pPr>
            <a:r>
              <a:t>Key services for data science:</a:t>
            </a:r>
          </a:p>
          <a:p>
            <a:pPr>
              <a:spcAft>
                <a:spcPts val="800"/>
              </a:spcAft>
              <a:defRPr sz="1600">
                <a:solidFill>
                  <a:srgbClr val="333333"/>
                </a:solidFill>
              </a:defRPr>
            </a:pPr>
            <a:r>
              <a:t>BigQuery: SQL on massive datasets (serverless, fast)</a:t>
            </a:r>
          </a:p>
          <a:p>
            <a:pPr>
              <a:spcAft>
                <a:spcPts val="800"/>
              </a:spcAft>
              <a:defRPr sz="1600">
                <a:solidFill>
                  <a:srgbClr val="333333"/>
                </a:solidFill>
              </a:defRPr>
            </a:pPr>
            <a:r>
              <a:t>Vertex AI: End-to-end ML platform (training, deployment, monitoring)</a:t>
            </a:r>
          </a:p>
          <a:p>
            <a:pPr>
              <a:spcAft>
                <a:spcPts val="800"/>
              </a:spcAft>
              <a:defRPr sz="1600">
                <a:solidFill>
                  <a:srgbClr val="333333"/>
                </a:solidFill>
              </a:defRPr>
            </a:pPr>
            <a:r>
              <a:t>Cloud Storage: Store datasets, models, artifacts</a:t>
            </a:r>
          </a:p>
          <a:p>
            <a:pPr>
              <a:spcAft>
                <a:spcPts val="800"/>
              </a:spcAft>
              <a:defRPr sz="1600">
                <a:solidFill>
                  <a:srgbClr val="333333"/>
                </a:solidFill>
              </a:defRPr>
            </a:pPr>
            <a:r>
              <a:t>Colab Enterprise: Managed notebooks with cloud compute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Google Cloud architecture diagram — simplified. Show: Data sources → Cloud Storage → BigQuery (analysis) → Vertex AI (modeling) → Deployment. Use Google Cloud icons. ---</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BigQuery — Query Massive Data Without Infrastructure</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Write SQL, get results in seconds — even on terabytes</a:t>
            </a:r>
          </a:p>
          <a:p>
            <a:pPr>
              <a:spcAft>
                <a:spcPts val="800"/>
              </a:spcAft>
              <a:defRPr sz="1600">
                <a:solidFill>
                  <a:srgbClr val="333333"/>
                </a:solidFill>
              </a:defRPr>
            </a:pPr>
            <a:r>
              <a:t>No servers to manage, no indexes to configure</a:t>
            </a:r>
          </a:p>
          <a:p>
            <a:pPr>
              <a:spcAft>
                <a:spcPts val="800"/>
              </a:spcAft>
              <a:defRPr sz="1600">
                <a:solidFill>
                  <a:srgbClr val="333333"/>
                </a:solidFill>
              </a:defRPr>
            </a:pPr>
            <a:r>
              <a:t>Pay per query (first 1 TB/month free)</a:t>
            </a:r>
          </a:p>
          <a:p>
            <a:pPr>
              <a:spcAft>
                <a:spcPts val="800"/>
              </a:spcAft>
              <a:defRPr sz="1600">
                <a:solidFill>
                  <a:srgbClr val="333333"/>
                </a:solidFill>
              </a:defRPr>
            </a:pPr>
            <a:r>
              <a:t>Directly connects to Vertex AI for ML</a:t>
            </a:r>
          </a:p>
          <a:p>
            <a:pPr>
              <a:spcAft>
                <a:spcPts val="800"/>
              </a:spcAft>
              <a:defRPr sz="1600">
                <a:solidFill>
                  <a:srgbClr val="333333"/>
                </a:solidFill>
              </a:defRPr>
            </a:pPr>
            <a:r>
              <a:t>Example: Uztelecom analyzing call records across all customers — millions of rows in seconds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BigQuery interface screenshot (or mockup) — SQL editor on top, results table on bottom. Show a simple query and its result.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Vertex AI — Train, Deploy, Monitor ML Models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AutoML: train models without writing code</a:t>
            </a:r>
          </a:p>
          <a:p>
            <a:pPr>
              <a:spcAft>
                <a:spcPts val="800"/>
              </a:spcAft>
              <a:defRPr sz="1600">
                <a:solidFill>
                  <a:srgbClr val="333333"/>
                </a:solidFill>
              </a:defRPr>
            </a:pPr>
            <a:r>
              <a:t>Custom training: bring your own Python code + framework</a:t>
            </a:r>
          </a:p>
          <a:p>
            <a:pPr>
              <a:spcAft>
                <a:spcPts val="800"/>
              </a:spcAft>
              <a:defRPr sz="1600">
                <a:solidFill>
                  <a:srgbClr val="333333"/>
                </a:solidFill>
              </a:defRPr>
            </a:pPr>
            <a:r>
              <a:t>Model Registry: version and manage trained models</a:t>
            </a:r>
          </a:p>
          <a:p>
            <a:pPr>
              <a:spcAft>
                <a:spcPts val="800"/>
              </a:spcAft>
              <a:defRPr sz="1600">
                <a:solidFill>
                  <a:srgbClr val="333333"/>
                </a:solidFill>
              </a:defRPr>
            </a:pPr>
            <a:r>
              <a:t>Endpoints: deploy models as APIs (send data, get predictions)</a:t>
            </a:r>
          </a:p>
          <a:p>
            <a:pPr>
              <a:spcAft>
                <a:spcPts val="800"/>
              </a:spcAft>
              <a:defRPr sz="1600">
                <a:solidFill>
                  <a:srgbClr val="333333"/>
                </a:solidFill>
              </a:defRPr>
            </a:pPr>
            <a:r>
              <a:t>Pipelines: automate the entire ML workflow</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Vertex AI workflow diagram — Data → Feature Store → Training (AutoML or Custom) → Model Registry → Endpoint (API) → Monitoring. Linear flow with icons. ---</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Your Cloud Learning Path</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Google Cloud Big Data and ML Fundamentals (required for this module)</a:t>
            </a:r>
          </a:p>
          <a:p>
            <a:pPr>
              <a:spcAft>
                <a:spcPts val="800"/>
              </a:spcAft>
              <a:defRPr sz="1600">
                <a:solidFill>
                  <a:srgbClr val="333333"/>
                </a:solidFill>
              </a:defRPr>
            </a:pPr>
            <a:r>
              <a:t>Free labs and courses on skills.google.com</a:t>
            </a:r>
          </a:p>
          <a:p>
            <a:pPr>
              <a:spcAft>
                <a:spcPts val="800"/>
              </a:spcAft>
              <a:defRPr sz="1600">
                <a:solidFill>
                  <a:srgbClr val="333333"/>
                </a:solidFill>
              </a:defRPr>
            </a:pPr>
            <a:r>
              <a:t>Earn badges that go on your LinkedIn profile</a:t>
            </a:r>
          </a:p>
          <a:p>
            <a:pPr>
              <a:spcAft>
                <a:spcPts val="800"/>
              </a:spcAft>
              <a:defRPr sz="1600">
                <a:solidFill>
                  <a:srgbClr val="333333"/>
                </a:solidFill>
              </a:defRPr>
            </a:pPr>
            <a:r>
              <a:t>Complete the required course as homework this week</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Google Skills Boost course card — title, estimated time, difficulty level. QR code linking to the course.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Activity 4 — Segment Customers Using What You've Learned</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Customer ID, Age, Monthly spend, Data usage (GB), Calls/month, Region</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Activity overview — numbered steps as a workflow, with icons for each tool used (Pandas, Matplotlib, NumPy). ---</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Let's Start Together</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Step 1: Load the dataset in Colab</a:t>
            </a:r>
          </a:p>
          <a:p>
            <a:pPr>
              <a:spcAft>
                <a:spcPts val="800"/>
              </a:spcAft>
              <a:defRPr sz="1600">
                <a:solidFill>
                  <a:srgbClr val="333333"/>
                </a:solidFill>
              </a:defRPr>
            </a:pPr>
            <a:r>
              <a:t>Step 2: Run the EDA checklist (shape, info, describe, null check)</a:t>
            </a:r>
          </a:p>
          <a:p>
            <a:pPr>
              <a:spcAft>
                <a:spcPts val="800"/>
              </a:spcAft>
              <a:defRPr sz="1600">
                <a:solidFill>
                  <a:srgbClr val="333333"/>
                </a:solidFill>
              </a:defRPr>
            </a:pPr>
            <a:r>
              <a:t>Step 3: What's the first chart you'd make? (Discuss)</a:t>
            </a:r>
          </a:p>
          <a:p>
            <a:pPr>
              <a:spcAft>
                <a:spcPts val="800"/>
              </a:spcAft>
              <a:defRPr sz="1600">
                <a:solidFill>
                  <a:srgbClr val="333333"/>
                </a:solidFill>
              </a:defRPr>
            </a:pPr>
            <a:r>
              <a:t>Step 4: Start coding — 20 minutes of independent work</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Colab notebook — live screen share for setup, then students work independently. ---</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How to Think About Customer Segments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Look for clusters in scatter plots — groups of dots that bunch together</a:t>
            </a:r>
          </a:p>
          <a:p>
            <a:pPr>
              <a:spcAft>
                <a:spcPts val="800"/>
              </a:spcAft>
              <a:defRPr sz="1600">
                <a:solidFill>
                  <a:srgbClr val="333333"/>
                </a:solidFill>
              </a:defRPr>
            </a:pPr>
            <a:r>
              <a:t>High spend + high data = premium users</a:t>
            </a:r>
          </a:p>
          <a:p>
            <a:pPr>
              <a:spcAft>
                <a:spcPts val="800"/>
              </a:spcAft>
              <a:defRPr sz="1600">
                <a:solidFill>
                  <a:srgbClr val="333333"/>
                </a:solidFill>
              </a:defRPr>
            </a:pPr>
            <a:r>
              <a:t>Low spend + high calls = traditional users (voice-heavy)</a:t>
            </a:r>
          </a:p>
          <a:p>
            <a:pPr>
              <a:spcAft>
                <a:spcPts val="800"/>
              </a:spcAft>
              <a:defRPr sz="1600">
                <a:solidFill>
                  <a:srgbClr val="333333"/>
                </a:solidFill>
              </a:defRPr>
            </a:pPr>
            <a:r>
              <a:t>Low everything = at-risk / inactive customers</a:t>
            </a:r>
          </a:p>
          <a:p>
            <a:pPr>
              <a:spcAft>
                <a:spcPts val="800"/>
              </a:spcAft>
              <a:defRPr sz="1600">
                <a:solidFill>
                  <a:srgbClr val="333333"/>
                </a:solidFill>
              </a:defRPr>
            </a:pPr>
            <a:r>
              <a:t>Segments should be actionable — "So what?" for each group</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Annotated scatter plot — spend vs data usage with three circled clusters labeled "Premium," "Traditional," "At-risk." Each cluster has a text box with a recommended action. ---</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Independent Work (20 minutes)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Complete Activity 4 Steps 1-5</a:t>
            </a:r>
          </a:p>
          <a:p>
            <a:pPr>
              <a:spcAft>
                <a:spcPts val="800"/>
              </a:spcAft>
              <a:defRPr sz="1600">
                <a:solidFill>
                  <a:srgbClr val="333333"/>
                </a:solidFill>
              </a:defRPr>
            </a:pPr>
            <a:r>
              <a:t>Ask questions — I'm here to help</a:t>
            </a:r>
          </a:p>
          <a:p>
            <a:pPr>
              <a:spcAft>
                <a:spcPts val="800"/>
              </a:spcAft>
              <a:defRPr sz="1600">
                <a:solidFill>
                  <a:srgbClr val="333333"/>
                </a:solidFill>
              </a:defRPr>
            </a:pPr>
            <a:r>
              <a:t>If stuck: check the Pandas cheat sheet from Class 2</a:t>
            </a:r>
          </a:p>
          <a:p>
            <a:pPr>
              <a:spcAft>
                <a:spcPts val="800"/>
              </a:spcAft>
              <a:defRPr sz="1600">
                <a:solidFill>
                  <a:srgbClr val="333333"/>
                </a:solidFill>
              </a:defRPr>
            </a:pPr>
            <a:r>
              <a:t>If done early: start on Step 6 (identifying segments)</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Timer display — 20 minutes. Activity steps listed for reference.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Share Your Findings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What did the data look like? Any surprises?</a:t>
            </a:r>
          </a:p>
          <a:p>
            <a:pPr>
              <a:spcAft>
                <a:spcPts val="800"/>
              </a:spcAft>
              <a:defRPr sz="1600">
                <a:solidFill>
                  <a:srgbClr val="333333"/>
                </a:solidFill>
              </a:defRPr>
            </a:pPr>
            <a:r>
              <a:t>Which chart was most informative?</a:t>
            </a:r>
          </a:p>
          <a:p>
            <a:pPr>
              <a:spcAft>
                <a:spcPts val="800"/>
              </a:spcAft>
              <a:defRPr sz="1600">
                <a:solidFill>
                  <a:srgbClr val="333333"/>
                </a:solidFill>
              </a:defRPr>
            </a:pPr>
            <a:r>
              <a:t>Did you spot any customer segments?</a:t>
            </a:r>
          </a:p>
          <a:p>
            <a:pPr>
              <a:spcAft>
                <a:spcPts val="800"/>
              </a:spcAft>
              <a:defRPr sz="1600">
                <a:solidFill>
                  <a:srgbClr val="333333"/>
                </a:solidFill>
              </a:defRPr>
            </a:pPr>
            <a:r>
              <a:t>What would you tell the management?</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Student screen shares — no prepared visual. ---</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What We Covered in Module 2</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Python: variables, types, control flow, functions — the language of data science</a:t>
            </a:r>
          </a:p>
          <a:p>
            <a:pPr>
              <a:spcAft>
                <a:spcPts val="800"/>
              </a:spcAft>
              <a:defRPr sz="1600">
                <a:solidFill>
                  <a:srgbClr val="333333"/>
                </a:solidFill>
              </a:defRPr>
            </a:pPr>
            <a:r>
              <a:t>NumPy &amp; Pandas: arrays, DataFrames, filtering, aggregation — the tools</a:t>
            </a:r>
          </a:p>
          <a:p>
            <a:pPr>
              <a:spcAft>
                <a:spcPts val="800"/>
              </a:spcAft>
              <a:defRPr sz="1600">
                <a:solidFill>
                  <a:srgbClr val="333333"/>
                </a:solidFill>
              </a:defRPr>
            </a:pPr>
            <a:r>
              <a:t>Visualization: histograms, scatter plots, bar charts, box plots, heatmaps — the lens</a:t>
            </a:r>
          </a:p>
          <a:p>
            <a:pPr>
              <a:spcAft>
                <a:spcPts val="800"/>
              </a:spcAft>
              <a:defRPr sz="1600">
                <a:solidFill>
                  <a:srgbClr val="333333"/>
                </a:solidFill>
              </a:defRPr>
            </a:pPr>
            <a:r>
              <a:t>Linear algebra: vectors, matrices, dot products — the math behind ML</a:t>
            </a:r>
          </a:p>
          <a:p>
            <a:pPr>
              <a:spcAft>
                <a:spcPts val="800"/>
              </a:spcAft>
              <a:defRPr sz="1600">
                <a:solidFill>
                  <a:srgbClr val="333333"/>
                </a:solidFill>
              </a:defRPr>
            </a:pPr>
            <a:r>
              <a:t>Calculus: derivatives, gradient descent — how models learn</a:t>
            </a:r>
          </a:p>
          <a:p>
            <a:pPr>
              <a:spcAft>
                <a:spcPts val="800"/>
              </a:spcAft>
              <a:defRPr sz="1600">
                <a:solidFill>
                  <a:srgbClr val="333333"/>
                </a:solidFill>
              </a:defRPr>
            </a:pPr>
            <a:r>
              <a:t>Probability &amp; stats: distributions, Bayes, hypothesis testing — reasoning under uncertainty</a:t>
            </a:r>
          </a:p>
          <a:p>
            <a:pPr>
              <a:spcAft>
                <a:spcPts val="800"/>
              </a:spcAft>
              <a:defRPr sz="1600">
                <a:solidFill>
                  <a:srgbClr val="333333"/>
                </a:solidFill>
              </a:defRPr>
            </a:pPr>
            <a:r>
              <a:t>Google Cloud: BigQuery, Vertex AI — the infrastructure</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Module 2 content map — six boxes arranged in two rows (Python, NumPy/Pandas, Visualization in row 1; Linear Algebra, Calculus/Probability, Google Cloud in row 2), with connecting lines showing how they relate. ---</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Final Homework for Module 2</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Complete Activity 4: full notebook with charts, interpretations, and segment descriptions</a:t>
            </a:r>
          </a:p>
          <a:p>
            <a:pPr>
              <a:spcAft>
                <a:spcPts val="800"/>
              </a:spcAft>
              <a:defRPr sz="1600">
                <a:solidFill>
                  <a:srgbClr val="333333"/>
                </a:solidFill>
              </a:defRPr>
            </a:pPr>
            <a:r>
              <a:t>Complete Google Skills Boost: "Google Cloud Big Data and ML Fundamentals"</a:t>
            </a:r>
          </a:p>
          <a:p>
            <a:pPr>
              <a:spcAft>
                <a:spcPts val="800"/>
              </a:spcAft>
              <a:defRPr sz="1600">
                <a:solidFill>
                  <a:srgbClr val="333333"/>
                </a:solidFill>
              </a:defRPr>
            </a:pPr>
            <a:r>
              <a:t>Review: all Kaggle micro-courses (Python, Pandas, Data Visualization)</a:t>
            </a:r>
          </a:p>
          <a:p>
            <a:pPr>
              <a:spcAft>
                <a:spcPts val="800"/>
              </a:spcAft>
              <a:defRPr sz="1600">
                <a:solidFill>
                  <a:srgbClr val="333333"/>
                </a:solidFill>
              </a:defRPr>
            </a:pPr>
            <a:r>
              <a:t>Prepare for Module 3: Data Preparation and Feature Engineering</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Checklist of final deliverables. Preview card for Module 3 topics. ---</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4864"/>
          </a:xfrm>
          <a:prstGeom prst="rect">
            <a:avLst/>
          </a:prstGeom>
          <a:solidFill>
            <a:srgbClr val="2980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046720" cy="731520"/>
          </a:xfrm>
          <a:prstGeom prst="rect">
            <a:avLst/>
          </a:prstGeom>
          <a:noFill/>
        </p:spPr>
        <p:txBody>
          <a:bodyPr wrap="square">
            <a:spAutoFit/>
          </a:bodyPr>
          <a:lstStyle/>
          <a:p>
            <a:pPr>
              <a:defRPr sz="2400" b="1">
                <a:solidFill>
                  <a:srgbClr val="2C3E50"/>
                </a:solidFill>
              </a:defRPr>
            </a:pPr>
            <a:r>
              <a:t>Questions?</a:t>
            </a:r>
          </a:p>
        </p:txBody>
      </p:sp>
      <p:sp>
        <p:nvSpPr>
          <p:cNvPr id="4" name="TextBox 3"/>
          <p:cNvSpPr txBox="1"/>
          <p:nvPr/>
        </p:nvSpPr>
        <p:spPr>
          <a:xfrm>
            <a:off x="548640" y="1188720"/>
            <a:ext cx="8046720" cy="4572000"/>
          </a:xfrm>
          <a:prstGeom prst="rect">
            <a:avLst/>
          </a:prstGeom>
          <a:noFill/>
        </p:spPr>
        <p:txBody>
          <a:bodyPr wrap="square">
            <a:spAutoFit/>
          </a:bodyPr>
          <a:lstStyle/>
          <a:p>
            <a:pPr>
              <a:spcAft>
                <a:spcPts val="800"/>
              </a:spcAft>
              <a:defRPr sz="1600">
                <a:solidFill>
                  <a:srgbClr val="333333"/>
                </a:solidFill>
              </a:defRPr>
            </a:pPr>
            <a:r>
              <a:t>Office hours: [time/channel]</a:t>
            </a:r>
          </a:p>
          <a:p>
            <a:pPr>
              <a:spcAft>
                <a:spcPts val="800"/>
              </a:spcAft>
              <a:defRPr sz="1600">
                <a:solidFill>
                  <a:srgbClr val="333333"/>
                </a:solidFill>
              </a:defRPr>
            </a:pPr>
            <a:r>
              <a:t>Resources: Module 2 resources.md (all links in one place)</a:t>
            </a:r>
          </a:p>
          <a:p>
            <a:pPr>
              <a:spcAft>
                <a:spcPts val="800"/>
              </a:spcAft>
              <a:defRPr sz="1600">
                <a:solidFill>
                  <a:srgbClr val="333333"/>
                </a:solidFill>
              </a:defRPr>
            </a:pPr>
            <a:r>
              <a:t>Struggling? That's normal. Revisit the 3Blue1Brown videos and Kaggle exercises.</a:t>
            </a:r>
          </a:p>
          <a:p>
            <a:pPr>
              <a:spcAft>
                <a:spcPts val="800"/>
              </a:spcAft>
              <a:defRPr sz="1600">
                <a:solidFill>
                  <a:srgbClr val="333333"/>
                </a:solidFill>
              </a:defRPr>
            </a:pPr>
            <a:r>
              <a:t>"The best time to learn Python was 5 years ago. The second best time is now."</a:t>
            </a:r>
          </a:p>
        </p:txBody>
      </p:sp>
      <p:sp>
        <p:nvSpPr>
          <p:cNvPr id="5" name="TextBox 4"/>
          <p:cNvSpPr txBox="1"/>
          <p:nvPr/>
        </p:nvSpPr>
        <p:spPr>
          <a:xfrm>
            <a:off x="548640" y="5943600"/>
            <a:ext cx="8046720" cy="457200"/>
          </a:xfrm>
          <a:prstGeom prst="rect">
            <a:avLst/>
          </a:prstGeom>
          <a:noFill/>
        </p:spPr>
        <p:txBody>
          <a:bodyPr wrap="square">
            <a:spAutoFit/>
          </a:bodyPr>
          <a:lstStyle/>
          <a:p>
            <a:pPr>
              <a:defRPr sz="1000" i="1">
                <a:solidFill>
                  <a:srgbClr val="999999"/>
                </a:solidFill>
              </a:defRPr>
            </a:pPr>
            <a:r>
              <a:t>Visual: Q&amp;A slide — clean, minimal. Contact info and resource links.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